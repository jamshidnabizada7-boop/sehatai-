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Open with the mission — SehatAI brings safety-first AI health guidance to 240M Pakistanis.
- Emphasize the trilingual reach: English, Urdu Nastaliq, and Roman Urdu.
- Highlight offline capability — works without internet on a PWA.
- Anchor credibility: 97.1% accuracy on a 139-case golden test harness.
- Set tone: safety first, vernacular first, Pakistan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gap isn't just doctors — it's language, literacy, and infrastructure.
- 1:1,300 ratio is far worse than WHO's 1:1,000 minimum.
- 70M+ Urdu-first speakers are excluded by English-only health tools.
- Less than 5% of GDP on health — among the lowest globally.
- Frame the urgency: when seconds determine survival, there is no safety net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Key insight: for life-threatening emergencies, an LLM is a liability — short-circuit it.
- Show pre-verified WHO action cards in the patient's language with one-tap dialing.
- Deterministic-first means safety is structural, not prompt-engineered.
- Trilingual + offline + cited = the three pillars of accessibility.
- 1122, 1166, 115 are Pakistan's actual emergency lines — built for local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pipeline is not linear — it's a veto cascade.
- L0 can short-circuit everything; L2 can block the final output.
- Safety is structural, not prompt-based — no LLM in the emergency path.
- Zero-hit retrieval → abstention (no hallucinated citations allowed).
- L2 enforces DRAP SaMD rules: information-only, never prescriptions.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- 67ms from symptom to emergency card — LLM bypassed entirely
- Deterministic, auditable, instant path — not prompt-based
- Pre-verified WHO action cards shown in patient's own language
- One-tap dialing to 1122 (Rescue), 1166 (Edhi), 115 (Police)
- This is the core safety differentiator versus generic chatbots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Roman Urdu is the lingua franca of Pakistani digital communication — SMS, WhatsApp, social
- No other health AI serves Roman Urdu natively — a true differentiator
- Urdu Nastaliq rendered with full RTL layout and proper Nastaliq font
- Auto-detection at 98% accuracy — users can also switch language mid-conversation
- Triage context preserved across language switches — no re-triage required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Feature set designed around real patient journey — first symptom to doctor visit to follow-up
- Safe Chat is the hero; Facility Finder connects patients to BHUs/RHCs/hospitals
- Doctor Copilot is PMDC-gated — only verified doctors get access
- Voice input serves low-literacy users who prefer speaking over typing
- Visit Summary QR-share bridges the patient-to-doctor handoff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Multi-provider cascade means if one API is down, system fails over automatically
- Patient never sees an error — every request resolves via the cascade
- Final tier is fully offline deterministic — works without internet at all
- Circuit breaker pattern: CLOSED → OPEN → HALF_OPEN prevents cascade overload
- Local-first SQLite PHI storage keeps patient data on-device per Pakistan DP laws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These are real benchmark numbers from our golden test suite — not marketing claims.
- The 0% false-positive rate is critical: crying wolf destroys trust.
- 97.1% emergency recall means 34 of 35 life-threatening cases were correctly triaged.
- Only 4 grounding misses — every miss abstained safely rather than hallucinating.
- Under-triage rate of 1.9% is well under the 5% clinical safety threshold.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We're not trying to out-feature ChatGPT. We're building the safety-first, vernacular, offline-capable layer Pakistan actually needs.
- Seven differentiators vs. two leading reference products — SehatAI is the only one that combines all of them.
- Three impact numbers anchor the mission: 240M Pakistanis, 70M Urdu-first speakers, sub-100ms emergency response.
- The 7-tier provider cascade means a single API outage never reaches the patient.
- The 139-case open evaluation harness is itself a differentiator — competitors keep their safety data closed.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deployment is live — judges can test the exact queries shown here themselves.
- The emergency path (cardiac query, 67ms) is the headline feature; the refusal path shows prescription safety.
- Pipeline chips in the mockup mirror what's actually rendered in the UI on every response.
- Triage badge SELF_CARE demonstrates the routine path that does invoke the LLM safely.
- Each test query maps to a distinct safety behavior — emergency, pediatric emergency, routine, refusal.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Close with the vision — SehatAI is not a hackathon toy. It's the foundation of a safety-first health layer for 240M people.
- The roadmap makes the long-term commitment visible: pilot, validate, then scale district-by-district.
- Repo link is live and public — judges can read the code, the safety engine, and the eval harness.
- Thank the judges in Urdu first (Shukriya) — it signals the vernacular mission in a single word.
- End with a clear ask: support the next phase — Urdu peer review and LHW pilot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714375"/>
            <a:ext cx="3714750" cy="37147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286500" y="714375"/>
            <a:ext cx="3714750" cy="3714750"/>
          </a:xfrm>
          <a:prstGeom prst="roundRect">
            <a:avLst>
              <a:gd name="adj" fmla="val 256154"/>
            </a:avLst>
          </a:prstGeom>
          <a:solidFill>
            <a:srgbClr val="10B981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5865019" y="1121569"/>
            <a:ext cx="2900363" cy="2900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4800" dirty="0"/>
          </a:p>
        </p:txBody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813" y="1757363"/>
            <a:ext cx="1628775" cy="1628775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6500813" y="1757363"/>
            <a:ext cx="1628775" cy="1628775"/>
          </a:xfrm>
          <a:prstGeom prst="roundRect">
            <a:avLst>
              <a:gd name="adj" fmla="val 584211"/>
            </a:avLst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3"/>
          <p:cNvSpPr/>
          <p:nvPr/>
        </p:nvSpPr>
        <p:spPr>
          <a:xfrm>
            <a:off x="6693694" y="1950244"/>
            <a:ext cx="1243013" cy="1243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4800" dirty="0"/>
          </a:p>
        </p:txBody>
      </p:sp>
      <p:sp>
        <p:nvSpPr>
          <p:cNvPr id="10" name="Text 4"/>
          <p:cNvSpPr/>
          <p:nvPr/>
        </p:nvSpPr>
        <p:spPr>
          <a:xfrm>
            <a:off x="6290965" y="925785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F59E0B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5"/>
          <p:cNvSpPr/>
          <p:nvPr/>
        </p:nvSpPr>
        <p:spPr>
          <a:xfrm>
            <a:off x="8442796" y="1440135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10B981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6"/>
          <p:cNvSpPr/>
          <p:nvPr/>
        </p:nvSpPr>
        <p:spPr>
          <a:xfrm>
            <a:off x="5998406" y="2468835"/>
            <a:ext cx="35719" cy="35719"/>
          </a:xfrm>
          <a:prstGeom prst="roundRect">
            <a:avLst>
              <a:gd name="adj" fmla="val 26639814"/>
            </a:avLst>
          </a:prstGeom>
          <a:solidFill>
            <a:srgbClr val="F59E0B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8267998" y="3529013"/>
            <a:ext cx="71438" cy="71438"/>
          </a:xfrm>
          <a:prstGeom prst="roundRect">
            <a:avLst>
              <a:gd name="adj" fmla="val 13319907"/>
            </a:avLst>
          </a:prstGeom>
          <a:solidFill>
            <a:srgbClr val="10B981">
              <a:alpha val="4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6583635" y="3969134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F59E0B">
              <a:alpha val="6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7996758" y="3188903"/>
            <a:ext cx="50006" cy="50006"/>
          </a:xfrm>
          <a:prstGeom prst="roundRect">
            <a:avLst>
              <a:gd name="adj" fmla="val 19028667"/>
            </a:avLst>
          </a:prstGeom>
          <a:solidFill>
            <a:srgbClr val="10B981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0"/>
          <p:cNvSpPr/>
          <p:nvPr/>
        </p:nvSpPr>
        <p:spPr>
          <a:xfrm>
            <a:off x="6876194" y="1851571"/>
            <a:ext cx="28575" cy="28575"/>
          </a:xfrm>
          <a:prstGeom prst="roundRect">
            <a:avLst>
              <a:gd name="adj" fmla="val 33300000"/>
            </a:avLst>
          </a:prstGeom>
          <a:solidFill>
            <a:srgbClr val="FBBF24">
              <a:alpha val="8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4" descr="/tmp/h2p-svg-1788426213975-pn6my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8959" y="3680482"/>
            <a:ext cx="3072482" cy="228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2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1E293B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42900" y="4957539"/>
            <a:ext cx="8112733" cy="17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Submission · September 2026</a:t>
            </a:r>
            <a:endParaRPr lang="en-US" sz="800" dirty="0"/>
          </a:p>
        </p:txBody>
      </p:sp>
      <p:sp>
        <p:nvSpPr>
          <p:cNvPr id="21" name="Text 14"/>
          <p:cNvSpPr/>
          <p:nvPr/>
        </p:nvSpPr>
        <p:spPr>
          <a:xfrm>
            <a:off x="8459952" y="4957539"/>
            <a:ext cx="351117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/ 12</a:t>
            </a:r>
            <a:endParaRPr lang="en-US" sz="619" dirty="0"/>
          </a:p>
        </p:txBody>
      </p:sp>
      <p:sp>
        <p:nvSpPr>
          <p:cNvPr id="22" name="Text 15"/>
          <p:cNvSpPr/>
          <p:nvPr/>
        </p:nvSpPr>
        <p:spPr>
          <a:xfrm>
            <a:off x="460772" y="1020998"/>
            <a:ext cx="2318928" cy="236748"/>
          </a:xfrm>
          <a:prstGeom prst="roundRect">
            <a:avLst>
              <a:gd name="adj" fmla="val 4019242"/>
            </a:avLst>
          </a:prstGeom>
          <a:solidFill>
            <a:srgbClr val="10B981">
              <a:alpha val="12000"/>
            </a:srgbClr>
          </a:solidFill>
          <a:ln w="7144">
            <a:solidFill>
              <a:srgbClr val="10B98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6"/>
          <p:cNvSpPr/>
          <p:nvPr/>
        </p:nvSpPr>
        <p:spPr>
          <a:xfrm>
            <a:off x="721519" y="1081720"/>
            <a:ext cx="1954597" cy="126609"/>
          </a:xfrm>
          <a:prstGeom prst="rect">
            <a:avLst/>
          </a:prstGeom>
          <a:noFill/>
          <a:ln/>
        </p:spPr>
        <p:txBody>
          <a:bodyPr wrap="square" lIns="100013" tIns="42863" rIns="100013" bIns="42863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731" spc="15" kern="0" dirty="0">
                <a:solidFill>
                  <a:srgbClr val="6EE7B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Alibaba Cloud AI Hackathon Pakistan 2026</a:t>
            </a:r>
            <a:endParaRPr lang="en-US" sz="731" dirty="0"/>
          </a:p>
        </p:txBody>
      </p:sp>
      <p:sp>
        <p:nvSpPr>
          <p:cNvPr id="24" name="Text 17"/>
          <p:cNvSpPr/>
          <p:nvPr/>
        </p:nvSpPr>
        <p:spPr>
          <a:xfrm>
            <a:off x="564356" y="1089310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6EE7B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25" name="Text 18"/>
          <p:cNvSpPr/>
          <p:nvPr/>
        </p:nvSpPr>
        <p:spPr>
          <a:xfrm>
            <a:off x="457200" y="1461343"/>
            <a:ext cx="5852160" cy="703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30"/>
              </a:lnSpc>
              <a:buNone/>
            </a:pPr>
            <a:r>
              <a:rPr lang="en-US" sz="5400" b="1" spc="-162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SehatAI</a:t>
            </a:r>
            <a:endParaRPr lang="en-US" sz="5400" dirty="0"/>
          </a:p>
        </p:txBody>
      </p:sp>
      <p:sp>
        <p:nvSpPr>
          <p:cNvPr id="26" name="Text 19"/>
          <p:cNvSpPr/>
          <p:nvPr/>
        </p:nvSpPr>
        <p:spPr>
          <a:xfrm>
            <a:off x="457200" y="2212777"/>
            <a:ext cx="5852160" cy="51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صحت AI</a:t>
            </a:r>
            <a:endParaRPr lang="en-US" sz="27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849910"/>
            <a:ext cx="457200" cy="2857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57200" y="3007072"/>
            <a:ext cx="4429125" cy="246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4"/>
              </a:lnSpc>
              <a:buNone/>
            </a:pPr>
            <a:r>
              <a:rPr lang="en-US" sz="1238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Safety-First AI Health Guidance &amp; Triage Platform for Pakistan</a:t>
            </a:r>
            <a:endParaRPr lang="en-US" sz="1238" dirty="0"/>
          </a:p>
        </p:txBody>
      </p:sp>
      <p:sp>
        <p:nvSpPr>
          <p:cNvPr id="29" name="Text 21"/>
          <p:cNvSpPr/>
          <p:nvPr/>
        </p:nvSpPr>
        <p:spPr>
          <a:xfrm>
            <a:off x="460772" y="3424200"/>
            <a:ext cx="1590377" cy="225698"/>
          </a:xfrm>
          <a:prstGeom prst="roundRect">
            <a:avLst>
              <a:gd name="adj" fmla="val 4216021"/>
            </a:avLst>
          </a:prstGeom>
          <a:solidFill>
            <a:srgbClr val="F8FAFC">
              <a:alpha val="4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2"/>
          <p:cNvSpPr/>
          <p:nvPr/>
        </p:nvSpPr>
        <p:spPr>
          <a:xfrm>
            <a:off x="692944" y="3484922"/>
            <a:ext cx="1397496" cy="128016"/>
          </a:xfrm>
          <a:prstGeom prst="rect">
            <a:avLst/>
          </a:prstGeom>
          <a:noFill/>
          <a:ln/>
        </p:spPr>
        <p:txBody>
          <a:bodyPr wrap="square" lIns="85725" tIns="42863" rIns="85725" bIns="42863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Trilingual EN · اردو · Roman Urdu</a:t>
            </a:r>
            <a:endParaRPr lang="en-US" sz="675" dirty="0"/>
          </a:p>
        </p:txBody>
      </p:sp>
      <p:sp>
        <p:nvSpPr>
          <p:cNvPr id="31" name="Text 23"/>
          <p:cNvSpPr/>
          <p:nvPr/>
        </p:nvSpPr>
        <p:spPr>
          <a:xfrm>
            <a:off x="550069" y="348704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6EE7B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984" dirty="0"/>
          </a:p>
        </p:txBody>
      </p:sp>
      <p:sp>
        <p:nvSpPr>
          <p:cNvPr id="32" name="Text 24"/>
          <p:cNvSpPr/>
          <p:nvPr/>
        </p:nvSpPr>
        <p:spPr>
          <a:xfrm>
            <a:off x="2126159" y="3407827"/>
            <a:ext cx="1138647" cy="258445"/>
          </a:xfrm>
          <a:prstGeom prst="roundRect">
            <a:avLst>
              <a:gd name="adj" fmla="val 3681818"/>
            </a:avLst>
          </a:prstGeom>
          <a:solidFill>
            <a:srgbClr val="F8FAFC">
              <a:alpha val="4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5"/>
          <p:cNvSpPr/>
          <p:nvPr/>
        </p:nvSpPr>
        <p:spPr>
          <a:xfrm>
            <a:off x="2361902" y="3484922"/>
            <a:ext cx="93862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Offline-Capable PWA</a:t>
            </a:r>
            <a:endParaRPr lang="en-US" sz="675" dirty="0"/>
          </a:p>
        </p:txBody>
      </p:sp>
      <p:sp>
        <p:nvSpPr>
          <p:cNvPr id="34" name="Text 26"/>
          <p:cNvSpPr/>
          <p:nvPr/>
        </p:nvSpPr>
        <p:spPr>
          <a:xfrm>
            <a:off x="2219027" y="348704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984" dirty="0"/>
          </a:p>
        </p:txBody>
      </p:sp>
      <p:sp>
        <p:nvSpPr>
          <p:cNvPr id="35" name="Text 27"/>
          <p:cNvSpPr/>
          <p:nvPr/>
        </p:nvSpPr>
        <p:spPr>
          <a:xfrm>
            <a:off x="3336243" y="3407827"/>
            <a:ext cx="943310" cy="258445"/>
          </a:xfrm>
          <a:prstGeom prst="roundRect">
            <a:avLst>
              <a:gd name="adj" fmla="val 3681818"/>
            </a:avLst>
          </a:prstGeom>
          <a:solidFill>
            <a:srgbClr val="F8FAFC">
              <a:alpha val="4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8"/>
          <p:cNvSpPr/>
          <p:nvPr/>
        </p:nvSpPr>
        <p:spPr>
          <a:xfrm>
            <a:off x="3571987" y="3484922"/>
            <a:ext cx="1457213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97.1% Accuracy</a:t>
            </a:r>
            <a:endParaRPr lang="en-US" sz="800" dirty="0"/>
          </a:p>
        </p:txBody>
      </p:sp>
      <p:sp>
        <p:nvSpPr>
          <p:cNvPr id="37" name="Text 29"/>
          <p:cNvSpPr/>
          <p:nvPr/>
        </p:nvSpPr>
        <p:spPr>
          <a:xfrm>
            <a:off x="3429112" y="348704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6EE7B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38" name="Text 30"/>
          <p:cNvSpPr/>
          <p:nvPr/>
        </p:nvSpPr>
        <p:spPr>
          <a:xfrm>
            <a:off x="457200" y="3982083"/>
            <a:ext cx="4937760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15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with Next.js 16 · React 19 · TypeScript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302263"/>
            <a:ext cx="1056449" cy="225153"/>
          </a:xfrm>
          <a:prstGeom prst="roundRect">
            <a:avLst>
              <a:gd name="adj" fmla="val 4226226"/>
            </a:avLst>
          </a:prstGeom>
          <a:solidFill>
            <a:srgbClr val="FFE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357188"/>
            <a:ext cx="7075550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15" kern="0" dirty="0">
                <a:solidFill>
                  <a:srgbClr val="E11D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2925" y="36477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E11D4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!</a:t>
            </a:r>
            <a:endParaRPr lang="en-US" sz="984" dirty="0"/>
          </a:p>
        </p:txBody>
      </p:sp>
      <p:sp>
        <p:nvSpPr>
          <p:cNvPr id="5" name="Text 3"/>
          <p:cNvSpPr/>
          <p:nvPr/>
        </p:nvSpPr>
        <p:spPr>
          <a:xfrm>
            <a:off x="7775637" y="353950"/>
            <a:ext cx="1124261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spc="50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SEHATAI · CONTEXT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15367"/>
            <a:ext cx="863600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3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Pakistan faces a critical healthcare access crisis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457200" y="968201"/>
            <a:ext cx="8229600" cy="19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240 million citizens. A system stretched beyond capacity.</a:t>
            </a:r>
            <a:endParaRPr lang="en-US" sz="1013" dirty="0"/>
          </a:p>
        </p:txBody>
      </p:sp>
      <p:sp>
        <p:nvSpPr>
          <p:cNvPr id="8" name="Text 6"/>
          <p:cNvSpPr/>
          <p:nvPr/>
        </p:nvSpPr>
        <p:spPr>
          <a:xfrm>
            <a:off x="460772" y="1308869"/>
            <a:ext cx="1943100" cy="1300051"/>
          </a:xfrm>
          <a:prstGeom prst="roundRect">
            <a:avLst>
              <a:gd name="adj" fmla="val 1025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1506" y="146960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E11D4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547" dirty="0"/>
          </a:p>
        </p:txBody>
      </p:sp>
      <p:sp>
        <p:nvSpPr>
          <p:cNvPr id="10" name="Text 8"/>
          <p:cNvSpPr/>
          <p:nvPr/>
        </p:nvSpPr>
        <p:spPr>
          <a:xfrm>
            <a:off x="2138168" y="1492821"/>
            <a:ext cx="138166" cy="17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6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497776" y="1726778"/>
            <a:ext cx="1883378" cy="40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925" b="1" spc="-58" kern="0" dirty="0">
                <a:solidFill>
                  <a:srgbClr val="E11D4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1:1,300</a:t>
            </a:r>
            <a:endParaRPr lang="en-US" sz="2925" dirty="0"/>
          </a:p>
        </p:txBody>
      </p:sp>
      <p:sp>
        <p:nvSpPr>
          <p:cNvPr id="12" name="Text 10"/>
          <p:cNvSpPr/>
          <p:nvPr/>
        </p:nvSpPr>
        <p:spPr>
          <a:xfrm>
            <a:off x="621506" y="2183978"/>
            <a:ext cx="1635919" cy="1310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Doctor-to-patient ratio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21506" y="2342480"/>
            <a:ext cx="16359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WHO recommends 1:1,000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53891" y="1308869"/>
            <a:ext cx="1943100" cy="1300051"/>
          </a:xfrm>
          <a:prstGeom prst="roundRect">
            <a:avLst>
              <a:gd name="adj" fmla="val 1025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714625" y="146960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E11D4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547" dirty="0"/>
          </a:p>
        </p:txBody>
      </p:sp>
      <p:sp>
        <p:nvSpPr>
          <p:cNvPr id="16" name="Text 14"/>
          <p:cNvSpPr/>
          <p:nvPr/>
        </p:nvSpPr>
        <p:spPr>
          <a:xfrm>
            <a:off x="4231287" y="1492821"/>
            <a:ext cx="138166" cy="17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6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2714625" y="1726778"/>
            <a:ext cx="1635919" cy="40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925" b="1" spc="-58" kern="0" dirty="0">
                <a:solidFill>
                  <a:srgbClr val="E11D4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60%</a:t>
            </a:r>
            <a:endParaRPr lang="en-US" sz="2925" dirty="0"/>
          </a:p>
        </p:txBody>
      </p:sp>
      <p:sp>
        <p:nvSpPr>
          <p:cNvPr id="18" name="Text 16"/>
          <p:cNvSpPr/>
          <p:nvPr/>
        </p:nvSpPr>
        <p:spPr>
          <a:xfrm>
            <a:off x="2714625" y="2183978"/>
            <a:ext cx="1734074" cy="131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Lack access to formal healthcare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2714625" y="2342480"/>
            <a:ext cx="1734074" cy="119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Rural &amp; low-income majority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47009" y="1308869"/>
            <a:ext cx="1943100" cy="1300051"/>
          </a:xfrm>
          <a:prstGeom prst="roundRect">
            <a:avLst>
              <a:gd name="adj" fmla="val 1025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07744" y="146960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59E0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547" dirty="0"/>
          </a:p>
        </p:txBody>
      </p:sp>
      <p:sp>
        <p:nvSpPr>
          <p:cNvPr id="22" name="Text 20"/>
          <p:cNvSpPr/>
          <p:nvPr/>
        </p:nvSpPr>
        <p:spPr>
          <a:xfrm>
            <a:off x="6324406" y="1492821"/>
            <a:ext cx="138166" cy="17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6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4807744" y="1726778"/>
            <a:ext cx="1635919" cy="40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925" b="1" spc="-58" kern="0" dirty="0">
                <a:solidFill>
                  <a:srgbClr val="F59E0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70M+</a:t>
            </a:r>
            <a:endParaRPr lang="en-US" sz="2925" dirty="0"/>
          </a:p>
        </p:txBody>
      </p:sp>
      <p:sp>
        <p:nvSpPr>
          <p:cNvPr id="24" name="Text 22"/>
          <p:cNvSpPr/>
          <p:nvPr/>
        </p:nvSpPr>
        <p:spPr>
          <a:xfrm>
            <a:off x="4807744" y="2183978"/>
            <a:ext cx="1635919" cy="1310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Urdu-first speakers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07744" y="2342480"/>
            <a:ext cx="1734074" cy="119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Excluded by English-only tools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40128" y="1308869"/>
            <a:ext cx="1943100" cy="1300051"/>
          </a:xfrm>
          <a:prstGeom prst="roundRect">
            <a:avLst>
              <a:gd name="adj" fmla="val 1025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900863" y="146960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59E0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547" dirty="0"/>
          </a:p>
        </p:txBody>
      </p:sp>
      <p:sp>
        <p:nvSpPr>
          <p:cNvPr id="28" name="Text 26"/>
          <p:cNvSpPr/>
          <p:nvPr/>
        </p:nvSpPr>
        <p:spPr>
          <a:xfrm>
            <a:off x="8417525" y="1492821"/>
            <a:ext cx="138166" cy="17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6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6900863" y="1726778"/>
            <a:ext cx="1635919" cy="40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925" b="1" spc="-58" kern="0" dirty="0">
                <a:solidFill>
                  <a:srgbClr val="F59E0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&lt;5%</a:t>
            </a:r>
            <a:endParaRPr lang="en-US" sz="2925" dirty="0"/>
          </a:p>
        </p:txBody>
      </p:sp>
      <p:sp>
        <p:nvSpPr>
          <p:cNvPr id="30" name="Text 28"/>
          <p:cNvSpPr/>
          <p:nvPr/>
        </p:nvSpPr>
        <p:spPr>
          <a:xfrm>
            <a:off x="6900863" y="2183978"/>
            <a:ext cx="1635919" cy="1310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Health budget of GDP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900863" y="2342480"/>
            <a:ext cx="16359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Among lowest globally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2769654"/>
            <a:ext cx="8229600" cy="779115"/>
          </a:xfrm>
          <a:prstGeom prst="roundRect">
            <a:avLst>
              <a:gd name="adj" fmla="val 14670"/>
            </a:avLst>
          </a:prstGeom>
          <a:solidFill>
            <a:srgbClr val="FFE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78631" y="2769654"/>
            <a:ext cx="0" cy="779115"/>
          </a:xfrm>
          <a:prstGeom prst="line">
            <a:avLst/>
          </a:prstGeom>
          <a:noFill/>
          <a:ln w="42863">
            <a:solidFill>
              <a:srgbClr val="E11D4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1513" y="2912529"/>
            <a:ext cx="257175" cy="257175"/>
          </a:xfrm>
          <a:prstGeom prst="roundRect">
            <a:avLst>
              <a:gd name="adj" fmla="val 37037"/>
            </a:avLst>
          </a:prstGeom>
          <a:solidFill>
            <a:srgbClr val="E11D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86157" y="2927174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547" dirty="0"/>
          </a:p>
        </p:txBody>
      </p:sp>
      <p:sp>
        <p:nvSpPr>
          <p:cNvPr id="36" name="Text 34"/>
          <p:cNvSpPr/>
          <p:nvPr/>
        </p:nvSpPr>
        <p:spPr>
          <a:xfrm>
            <a:off x="1042988" y="2912529"/>
            <a:ext cx="7582090" cy="156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spc="32" kern="0" dirty="0">
                <a:solidFill>
                  <a:srgbClr val="9F123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REAL COST — SECONDS, NOT DAYS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42988" y="3096034"/>
            <a:ext cx="747236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8813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When emergencies strike — cardiac arrest, stroke, maternal hemorrhage, severe bleeding — every second counts. But most Pakistanis don't know the warning signs, and there's no trilingual, offline-capable triage tool to guide them.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2900" y="4957539"/>
            <a:ext cx="8112733" cy="17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SehatAI · Problem Statement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459952" y="4957539"/>
            <a:ext cx="351117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61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4340" y="330838"/>
            <a:ext cx="1094400" cy="225153"/>
          </a:xfrm>
          <a:prstGeom prst="roundRect">
            <a:avLst>
              <a:gd name="adj" fmla="val 4226226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647698" y="385763"/>
            <a:ext cx="810558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731" spc="15" kern="0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SOLUTION</a:t>
            </a:r>
            <a:endParaRPr lang="en-US" sz="731" dirty="0"/>
          </a:p>
        </p:txBody>
      </p:sp>
      <p:sp>
        <p:nvSpPr>
          <p:cNvPr id="6" name="Text 2"/>
          <p:cNvSpPr/>
          <p:nvPr/>
        </p:nvSpPr>
        <p:spPr>
          <a:xfrm>
            <a:off x="542925" y="39335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478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984" dirty="0"/>
          </a:p>
        </p:txBody>
      </p:sp>
      <p:sp>
        <p:nvSpPr>
          <p:cNvPr id="7" name="Text 3"/>
          <p:cNvSpPr/>
          <p:nvPr/>
        </p:nvSpPr>
        <p:spPr>
          <a:xfrm>
            <a:off x="457200" y="643942"/>
            <a:ext cx="4343400" cy="582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trilingual, offline-capable AI health companion that puts safety first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57200" y="1283308"/>
            <a:ext cx="4343400" cy="896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SehatAI is a Progressive Web App that provides immediate, evidence-grounded health guidance in English, Urdu (اردو Nastaliq), and Roman Urdu. Unlike generic chatbots, it uses a deterministic-first safety architecture — emergencies are detected in under 100 milliseconds and bypass the LLM entirely, displaying pre-verified WHO action cards with one-tap dialing to 1122, 1166, and 115.</a:t>
            </a:r>
            <a:endParaRPr lang="en-US" sz="844" dirty="0"/>
          </a:p>
        </p:txBody>
      </p:sp>
      <p:sp>
        <p:nvSpPr>
          <p:cNvPr id="9" name="Text 5"/>
          <p:cNvSpPr/>
          <p:nvPr/>
        </p:nvSpPr>
        <p:spPr>
          <a:xfrm>
            <a:off x="457200" y="2256644"/>
            <a:ext cx="285750" cy="285750"/>
          </a:xfrm>
          <a:prstGeom prst="roundRect">
            <a:avLst>
              <a:gd name="adj" fmla="val 3330000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496491" y="2295934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478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1" name="Text 7"/>
          <p:cNvSpPr/>
          <p:nvPr/>
        </p:nvSpPr>
        <p:spPr>
          <a:xfrm>
            <a:off x="842963" y="2256644"/>
            <a:ext cx="3192028" cy="148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5"/>
              </a:lnSpc>
              <a:buNone/>
            </a:pPr>
            <a:r>
              <a:rPr lang="en-US" sz="759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Deterministic safety engine detects 28 emergency patterns in &lt;100ms</a:t>
            </a:r>
            <a:endParaRPr lang="en-US" sz="759" dirty="0"/>
          </a:p>
        </p:txBody>
      </p:sp>
      <p:sp>
        <p:nvSpPr>
          <p:cNvPr id="12" name="Text 8"/>
          <p:cNvSpPr/>
          <p:nvPr/>
        </p:nvSpPr>
        <p:spPr>
          <a:xfrm>
            <a:off x="457200" y="2685269"/>
            <a:ext cx="285750" cy="285750"/>
          </a:xfrm>
          <a:prstGeom prst="roundRect">
            <a:avLst>
              <a:gd name="adj" fmla="val 3330000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96491" y="2724559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478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406" dirty="0"/>
          </a:p>
        </p:txBody>
      </p:sp>
      <p:sp>
        <p:nvSpPr>
          <p:cNvPr id="14" name="Text 10"/>
          <p:cNvSpPr/>
          <p:nvPr/>
        </p:nvSpPr>
        <p:spPr>
          <a:xfrm>
            <a:off x="842963" y="2685269"/>
            <a:ext cx="2543175" cy="148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5"/>
              </a:lnSpc>
              <a:buNone/>
            </a:pPr>
            <a:r>
              <a:rPr lang="en-US" sz="759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trilingual support with RTL layout for Urdu Nastaliq</a:t>
            </a:r>
            <a:endParaRPr lang="en-US" sz="759" dirty="0"/>
          </a:p>
        </p:txBody>
      </p:sp>
      <p:sp>
        <p:nvSpPr>
          <p:cNvPr id="15" name="Text 11"/>
          <p:cNvSpPr/>
          <p:nvPr/>
        </p:nvSpPr>
        <p:spPr>
          <a:xfrm>
            <a:off x="457200" y="3113894"/>
            <a:ext cx="285750" cy="285750"/>
          </a:xfrm>
          <a:prstGeom prst="roundRect">
            <a:avLst>
              <a:gd name="adj" fmla="val 3330000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496491" y="3153184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478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406" dirty="0"/>
          </a:p>
        </p:txBody>
      </p:sp>
      <p:sp>
        <p:nvSpPr>
          <p:cNvPr id="17" name="Text 13"/>
          <p:cNvSpPr/>
          <p:nvPr/>
        </p:nvSpPr>
        <p:spPr>
          <a:xfrm>
            <a:off x="842963" y="3113894"/>
            <a:ext cx="2066240" cy="148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5"/>
              </a:lnSpc>
              <a:buNone/>
            </a:pPr>
            <a:r>
              <a:rPr lang="en-US" sz="759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Offline safety pack works without internet</a:t>
            </a:r>
            <a:endParaRPr lang="en-US" sz="759" dirty="0"/>
          </a:p>
        </p:txBody>
      </p:sp>
      <p:sp>
        <p:nvSpPr>
          <p:cNvPr id="18" name="Text 14"/>
          <p:cNvSpPr/>
          <p:nvPr/>
        </p:nvSpPr>
        <p:spPr>
          <a:xfrm>
            <a:off x="457200" y="3542519"/>
            <a:ext cx="285750" cy="285750"/>
          </a:xfrm>
          <a:prstGeom prst="roundRect">
            <a:avLst>
              <a:gd name="adj" fmla="val 3330000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96491" y="3581809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478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20" name="Text 16"/>
          <p:cNvSpPr/>
          <p:nvPr/>
        </p:nvSpPr>
        <p:spPr>
          <a:xfrm>
            <a:off x="842963" y="3542519"/>
            <a:ext cx="3006068" cy="148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5"/>
              </a:lnSpc>
              <a:buNone/>
            </a:pPr>
            <a:r>
              <a:rPr lang="en-US" sz="759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response grounded in WHO, UNICEF &amp; MoNHSRC citations</a:t>
            </a:r>
            <a:endParaRPr lang="en-US" sz="759" dirty="0"/>
          </a:p>
        </p:txBody>
      </p:sp>
      <p:sp>
        <p:nvSpPr>
          <p:cNvPr id="21" name="Text 17"/>
          <p:cNvSpPr/>
          <p:nvPr/>
        </p:nvSpPr>
        <p:spPr>
          <a:xfrm>
            <a:off x="5832872" y="346472"/>
            <a:ext cx="2278856" cy="3850481"/>
          </a:xfrm>
          <a:prstGeom prst="roundRect">
            <a:avLst>
              <a:gd name="adj" fmla="val 15047"/>
            </a:avLst>
          </a:prstGeom>
          <a:solidFill>
            <a:srgbClr val="0F172A"/>
          </a:solidFill>
          <a:ln w="7144">
            <a:solidFill>
              <a:srgbClr val="1E293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5900738" y="442913"/>
            <a:ext cx="2143125" cy="36576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5900738" y="442913"/>
            <a:ext cx="2143125" cy="297805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6000750" y="52752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266" dirty="0"/>
          </a:p>
        </p:txBody>
      </p:sp>
      <p:sp>
        <p:nvSpPr>
          <p:cNvPr id="25" name="Text 21"/>
          <p:cNvSpPr/>
          <p:nvPr/>
        </p:nvSpPr>
        <p:spPr>
          <a:xfrm>
            <a:off x="6170844" y="514350"/>
            <a:ext cx="507919" cy="154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SehatAI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7674508" y="570384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86EFA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7694866" y="536451"/>
            <a:ext cx="307208" cy="132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600" dirty="0">
                <a:solidFill>
                  <a:srgbClr val="FFFFFF">
                    <a:alpha val="9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online</a:t>
            </a:r>
            <a:endParaRPr lang="en-US" sz="600" dirty="0"/>
          </a:p>
        </p:txBody>
      </p:sp>
      <p:sp>
        <p:nvSpPr>
          <p:cNvPr id="28" name="Text 24"/>
          <p:cNvSpPr/>
          <p:nvPr/>
        </p:nvSpPr>
        <p:spPr>
          <a:xfrm>
            <a:off x="5900738" y="740718"/>
            <a:ext cx="2143125" cy="3124051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6433282" y="840730"/>
            <a:ext cx="1524856" cy="261417"/>
          </a:xfrm>
          <a:prstGeom prst="roundRect">
            <a:avLst>
              <a:gd name="adj" fmla="val 51010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6433282" y="840730"/>
            <a:ext cx="1524856" cy="305422"/>
          </a:xfrm>
          <a:prstGeom prst="rect">
            <a:avLst/>
          </a:prstGeom>
          <a:noFill/>
          <a:ln/>
        </p:spPr>
        <p:txBody>
          <a:bodyPr wrap="square" lIns="85725" tIns="64294" rIns="85725" bIns="64294" rtlCol="0" anchor="t">
            <a:normAutofit/>
          </a:bodyPr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Mera seenay mein dard ho raha hai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5963603" y="1165561"/>
            <a:ext cx="982891" cy="149769"/>
          </a:xfrm>
          <a:prstGeom prst="roundRect">
            <a:avLst>
              <a:gd name="adj" fmla="val 6353434"/>
            </a:avLst>
          </a:prstGeom>
          <a:solidFill>
            <a:srgbClr val="FFE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5986463" y="1173584"/>
            <a:ext cx="937171" cy="1337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28"/>
              </a:lnSpc>
              <a:buNone/>
            </a:pPr>
            <a:r>
              <a:rPr lang="en-US" sz="800" b="1" spc="32" kern="0" dirty="0">
                <a:solidFill>
                  <a:srgbClr val="E11D4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⚡ DETECTED IN 67ms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5986463" y="1378744"/>
            <a:ext cx="1541934" cy="1164654"/>
          </a:xfrm>
          <a:prstGeom prst="roundRect">
            <a:avLst>
              <a:gd name="adj" fmla="val 11450"/>
            </a:avLst>
          </a:prstGeom>
          <a:solidFill>
            <a:srgbClr val="E11D48"/>
          </a:solidFill>
          <a:ln/>
          <a:effectLst>
            <a:outerShdw sx="100000" sy="100000" kx="0" ky="0" algn="bl" rotWithShape="0" blurRad="190500" dist="76200" dir="5400000">
              <a:srgbClr val="E11D48">
                <a:alpha val="4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6086475" y="147205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266" dirty="0"/>
          </a:p>
        </p:txBody>
      </p:sp>
      <p:sp>
        <p:nvSpPr>
          <p:cNvPr id="35" name="Text 31"/>
          <p:cNvSpPr/>
          <p:nvPr/>
        </p:nvSpPr>
        <p:spPr>
          <a:xfrm>
            <a:off x="6272213" y="1464469"/>
            <a:ext cx="1156171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731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Mumkina dil ki emergency</a:t>
            </a:r>
            <a:endParaRPr lang="en-US" sz="731" dirty="0"/>
          </a:p>
        </p:txBody>
      </p:sp>
      <p:sp>
        <p:nvSpPr>
          <p:cNvPr id="36" name="Text 32"/>
          <p:cNvSpPr/>
          <p:nvPr/>
        </p:nvSpPr>
        <p:spPr>
          <a:xfrm>
            <a:off x="6086475" y="1651211"/>
            <a:ext cx="1341909" cy="1514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619" dirty="0">
                <a:solidFill>
                  <a:srgbClr val="FFFFFF">
                    <a:alpha val="9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Fori 1122 par call karein</a:t>
            </a:r>
            <a:endParaRPr lang="en-US" sz="619" dirty="0"/>
          </a:p>
        </p:txBody>
      </p:sp>
      <p:sp>
        <p:nvSpPr>
          <p:cNvPr id="37" name="Text 33"/>
          <p:cNvSpPr/>
          <p:nvPr/>
        </p:nvSpPr>
        <p:spPr>
          <a:xfrm>
            <a:off x="6086475" y="1830139"/>
            <a:ext cx="1341909" cy="357795"/>
          </a:xfrm>
          <a:prstGeom prst="rect">
            <a:avLst/>
          </a:prstGeom>
          <a:noFill/>
          <a:ln/>
        </p:spPr>
        <p:txBody>
          <a:bodyPr wrap="square" lIns="50006" tIns="0" rIns="0" bIns="0" rtlCol="0" anchor="t"/>
          <a:lstStyle/>
          <a:p>
            <a:pPr algn="l" marL="50006" indent="-50006">
              <a:lnSpc>
                <a:spcPts val="886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Rescue 1122 ko fori call karein</a:t>
            </a:r>
            <a:endParaRPr lang="en-US" sz="800" dirty="0"/>
          </a:p>
          <a:p>
            <a:pPr algn="l" marL="50006" indent="-50006">
              <a:lnSpc>
                <a:spcPts val="886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Bimaar ko seedha leta den</a:t>
            </a:r>
            <a:endParaRPr lang="en-US" sz="800" dirty="0"/>
          </a:p>
          <a:p>
            <a:pPr algn="l" marL="50006" indent="-50006">
              <a:lnSpc>
                <a:spcPts val="886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CPR ki tayari karein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6066459" y="2226318"/>
            <a:ext cx="540429" cy="244157"/>
          </a:xfrm>
          <a:prstGeom prst="roundRect">
            <a:avLst>
              <a:gd name="adj" fmla="val 3897277"/>
            </a:avLst>
          </a:prstGeom>
          <a:solidFill>
            <a:srgbClr val="10B981"/>
          </a:solidFill>
          <a:ln/>
          <a:effectLst>
            <a:outerShdw sx="100000" sy="100000" kx="0" ky="0" algn="bl" rotWithShape="0" blurRad="114300" dist="38100" dir="5400000">
              <a:srgbClr val="10B981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6267676" y="2296269"/>
            <a:ext cx="280869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1122</a:t>
            </a:r>
            <a:endParaRPr lang="en-US" sz="675" dirty="0"/>
          </a:p>
        </p:txBody>
      </p:sp>
      <p:sp>
        <p:nvSpPr>
          <p:cNvPr id="40" name="Text 36"/>
          <p:cNvSpPr/>
          <p:nvPr/>
        </p:nvSpPr>
        <p:spPr>
          <a:xfrm>
            <a:off x="6172200" y="2298390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☎</a:t>
            </a:r>
            <a:endParaRPr lang="en-US" sz="984" dirty="0"/>
          </a:p>
        </p:txBody>
      </p:sp>
      <p:sp>
        <p:nvSpPr>
          <p:cNvPr id="41" name="Text 37"/>
          <p:cNvSpPr/>
          <p:nvPr/>
        </p:nvSpPr>
        <p:spPr>
          <a:xfrm>
            <a:off x="5900738" y="3864769"/>
            <a:ext cx="2143125" cy="235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38"/>
          <p:cNvSpPr/>
          <p:nvPr/>
        </p:nvSpPr>
        <p:spPr>
          <a:xfrm>
            <a:off x="5900738" y="3868341"/>
            <a:ext cx="214312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5986463" y="3930848"/>
            <a:ext cx="1843088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Type a message…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7843838" y="392906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125" dirty="0"/>
          </a:p>
        </p:txBody>
      </p:sp>
      <p:sp>
        <p:nvSpPr>
          <p:cNvPr id="45" name="Text 41"/>
          <p:cNvSpPr/>
          <p:nvPr/>
        </p:nvSpPr>
        <p:spPr>
          <a:xfrm>
            <a:off x="5900738" y="4300538"/>
            <a:ext cx="2143125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Emergency detected in 67ms — LLM bypassed, deterministic template shown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342900" y="4957539"/>
            <a:ext cx="8112733" cy="17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SehatAI · Solution Overview</a:t>
            </a:r>
            <a:endParaRPr lang="en-US" sz="800" dirty="0"/>
          </a:p>
        </p:txBody>
      </p:sp>
      <p:sp>
        <p:nvSpPr>
          <p:cNvPr id="48" name="Text 44"/>
          <p:cNvSpPr/>
          <p:nvPr/>
        </p:nvSpPr>
        <p:spPr>
          <a:xfrm>
            <a:off x="8459952" y="4957539"/>
            <a:ext cx="351117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619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1E293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42900" y="4957539"/>
            <a:ext cx="8112733" cy="17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SehatAI · Safety Pipeline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459952" y="4957539"/>
            <a:ext cx="351117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619" dirty="0"/>
          </a:p>
        </p:txBody>
      </p:sp>
      <p:sp>
        <p:nvSpPr>
          <p:cNvPr id="8" name="Text 5"/>
          <p:cNvSpPr/>
          <p:nvPr/>
        </p:nvSpPr>
        <p:spPr>
          <a:xfrm>
            <a:off x="434340" y="244373"/>
            <a:ext cx="1473019" cy="244157"/>
          </a:xfrm>
          <a:prstGeom prst="roundRect">
            <a:avLst>
              <a:gd name="adj" fmla="val 3897277"/>
            </a:avLst>
          </a:prstGeom>
          <a:solidFill>
            <a:srgbClr val="10B981">
              <a:alpha val="12000"/>
            </a:srgbClr>
          </a:solidFill>
          <a:ln w="7144">
            <a:solidFill>
              <a:srgbClr val="10B98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92944" y="314325"/>
            <a:ext cx="6693247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spc="27" kern="0" dirty="0">
                <a:solidFill>
                  <a:srgbClr val="6EE7B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 ARCHITECTURE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50069" y="31644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6EE7B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984" dirty="0"/>
          </a:p>
        </p:txBody>
      </p:sp>
      <p:sp>
        <p:nvSpPr>
          <p:cNvPr id="11" name="Text 8"/>
          <p:cNvSpPr/>
          <p:nvPr/>
        </p:nvSpPr>
        <p:spPr>
          <a:xfrm>
            <a:off x="7400479" y="305507"/>
            <a:ext cx="1494545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spc="50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L0 → L1 → RAG → LLM → L2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57200" y="561454"/>
            <a:ext cx="863600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30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Five-layer safety pipeline — every response is screened, grounded, and validated</a:t>
            </a:r>
            <a:endParaRPr lang="en-US" sz="1688" dirty="0"/>
          </a:p>
        </p:txBody>
      </p:sp>
      <p:sp>
        <p:nvSpPr>
          <p:cNvPr id="13" name="Text 10"/>
          <p:cNvSpPr/>
          <p:nvPr/>
        </p:nvSpPr>
        <p:spPr>
          <a:xfrm>
            <a:off x="346472" y="1007938"/>
            <a:ext cx="1421606" cy="2278856"/>
          </a:xfrm>
          <a:prstGeom prst="roundRect">
            <a:avLst>
              <a:gd name="adj" fmla="val 10720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64344" y="1140098"/>
            <a:ext cx="314325" cy="185738"/>
          </a:xfrm>
          <a:prstGeom prst="roundRect">
            <a:avLst>
              <a:gd name="adj" fmla="val 41026"/>
            </a:avLst>
          </a:prstGeom>
          <a:solidFill>
            <a:srgbClr val="E11D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64344" y="1140098"/>
            <a:ext cx="87042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L0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306462" y="1177603"/>
            <a:ext cx="386334" cy="17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1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464344" y="1425848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E11D48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97205" y="1458709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FB71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688" dirty="0"/>
          </a:p>
        </p:txBody>
      </p:sp>
      <p:sp>
        <p:nvSpPr>
          <p:cNvPr id="19" name="Text 16"/>
          <p:cNvSpPr/>
          <p:nvPr/>
        </p:nvSpPr>
        <p:spPr>
          <a:xfrm>
            <a:off x="464344" y="1811610"/>
            <a:ext cx="118586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 Lexicon</a:t>
            </a:r>
            <a:endParaRPr lang="en-US" sz="844" dirty="0"/>
          </a:p>
        </p:txBody>
      </p:sp>
      <p:sp>
        <p:nvSpPr>
          <p:cNvPr id="20" name="Text 17"/>
          <p:cNvSpPr/>
          <p:nvPr/>
        </p:nvSpPr>
        <p:spPr>
          <a:xfrm>
            <a:off x="464344" y="2002706"/>
            <a:ext cx="1257014" cy="931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28-pattern deterministic engine. Detects cardiac, stroke, maternal, pediatric, poisoning emergencies in &lt;100ms. Matches across English, Urdu &amp; Roman Urdu.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42412" y="2949826"/>
            <a:ext cx="592145" cy="216402"/>
          </a:xfrm>
          <a:prstGeom prst="roundRect">
            <a:avLst>
              <a:gd name="adj" fmla="val 4397129"/>
            </a:avLst>
          </a:prstGeom>
          <a:solidFill>
            <a:srgbClr val="E11D48">
              <a:alpha val="14000"/>
            </a:srgbClr>
          </a:solidFill>
          <a:ln w="7144">
            <a:solidFill>
              <a:srgbClr val="E11D4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22996" y="3011425"/>
            <a:ext cx="338135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619" b="1" dirty="0">
                <a:solidFill>
                  <a:srgbClr val="FB71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&lt;100ms</a:t>
            </a:r>
            <a:endParaRPr lang="en-US" sz="619" dirty="0"/>
          </a:p>
        </p:txBody>
      </p:sp>
      <p:sp>
        <p:nvSpPr>
          <p:cNvPr id="23" name="Text 20"/>
          <p:cNvSpPr/>
          <p:nvPr/>
        </p:nvSpPr>
        <p:spPr>
          <a:xfrm>
            <a:off x="542925" y="301868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B71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843088" y="206164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688" dirty="0"/>
          </a:p>
        </p:txBody>
      </p:sp>
      <p:sp>
        <p:nvSpPr>
          <p:cNvPr id="25" name="Text 22"/>
          <p:cNvSpPr/>
          <p:nvPr/>
        </p:nvSpPr>
        <p:spPr>
          <a:xfrm>
            <a:off x="2089547" y="1007938"/>
            <a:ext cx="1421606" cy="2278856"/>
          </a:xfrm>
          <a:prstGeom prst="roundRect">
            <a:avLst>
              <a:gd name="adj" fmla="val 10720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2207419" y="1140098"/>
            <a:ext cx="314325" cy="185738"/>
          </a:xfrm>
          <a:prstGeom prst="roundRect">
            <a:avLst>
              <a:gd name="adj" fmla="val 41026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2207419" y="1140098"/>
            <a:ext cx="87042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L1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049537" y="1177603"/>
            <a:ext cx="386334" cy="17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2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2207419" y="1425848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F59E0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2240280" y="1458709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688" dirty="0"/>
          </a:p>
        </p:txBody>
      </p:sp>
      <p:sp>
        <p:nvSpPr>
          <p:cNvPr id="31" name="Text 28"/>
          <p:cNvSpPr/>
          <p:nvPr/>
        </p:nvSpPr>
        <p:spPr>
          <a:xfrm>
            <a:off x="2207419" y="1811610"/>
            <a:ext cx="118586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Triage Classifier</a:t>
            </a:r>
            <a:endParaRPr lang="en-US" sz="844" dirty="0"/>
          </a:p>
        </p:txBody>
      </p:sp>
      <p:sp>
        <p:nvSpPr>
          <p:cNvPr id="32" name="Text 29"/>
          <p:cNvSpPr/>
          <p:nvPr/>
        </p:nvSpPr>
        <p:spPr>
          <a:xfrm>
            <a:off x="2207419" y="2002706"/>
            <a:ext cx="12570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Routes to EMERGENCY / URGENT / ROUTINE / SELF_CARE. Decouples chief complaint from danger signs to prevent false escalation.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2184559" y="2949826"/>
            <a:ext cx="688546" cy="216402"/>
          </a:xfrm>
          <a:prstGeom prst="roundRect">
            <a:avLst>
              <a:gd name="adj" fmla="val 4397129"/>
            </a:avLst>
          </a:prstGeom>
          <a:solidFill>
            <a:srgbClr val="F59E0B">
              <a:alpha val="14000"/>
            </a:srgbClr>
          </a:solidFill>
          <a:ln w="7144">
            <a:solidFill>
              <a:srgbClr val="F59E0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2382279" y="3011425"/>
            <a:ext cx="400261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619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levels</a:t>
            </a:r>
            <a:endParaRPr lang="en-US" sz="619" dirty="0"/>
          </a:p>
        </p:txBody>
      </p:sp>
      <p:sp>
        <p:nvSpPr>
          <p:cNvPr id="35" name="Text 32"/>
          <p:cNvSpPr/>
          <p:nvPr/>
        </p:nvSpPr>
        <p:spPr>
          <a:xfrm>
            <a:off x="2286000" y="301868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3586163" y="206164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688" dirty="0"/>
          </a:p>
        </p:txBody>
      </p:sp>
      <p:sp>
        <p:nvSpPr>
          <p:cNvPr id="37" name="Text 34"/>
          <p:cNvSpPr/>
          <p:nvPr/>
        </p:nvSpPr>
        <p:spPr>
          <a:xfrm>
            <a:off x="3832622" y="1007938"/>
            <a:ext cx="1421606" cy="2278856"/>
          </a:xfrm>
          <a:prstGeom prst="roundRect">
            <a:avLst>
              <a:gd name="adj" fmla="val 10720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3950494" y="1140098"/>
            <a:ext cx="314325" cy="185738"/>
          </a:xfrm>
          <a:prstGeom prst="roundRect">
            <a:avLst>
              <a:gd name="adj" fmla="val 41026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3950494" y="1140098"/>
            <a:ext cx="87042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4792612" y="1177603"/>
            <a:ext cx="386334" cy="17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3</a:t>
            </a:r>
            <a:endParaRPr lang="en-US" sz="600" dirty="0"/>
          </a:p>
        </p:txBody>
      </p:sp>
      <p:sp>
        <p:nvSpPr>
          <p:cNvPr id="41" name="Text 38"/>
          <p:cNvSpPr/>
          <p:nvPr/>
        </p:nvSpPr>
        <p:spPr>
          <a:xfrm>
            <a:off x="3950494" y="1425848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0EA5E9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3983355" y="1458709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⌕</a:t>
            </a:r>
            <a:endParaRPr lang="en-US" sz="1688" dirty="0"/>
          </a:p>
        </p:txBody>
      </p:sp>
      <p:sp>
        <p:nvSpPr>
          <p:cNvPr id="43" name="Text 40"/>
          <p:cNvSpPr/>
          <p:nvPr/>
        </p:nvSpPr>
        <p:spPr>
          <a:xfrm>
            <a:off x="3950494" y="1811610"/>
            <a:ext cx="118586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Grounded Retrieval</a:t>
            </a:r>
            <a:endParaRPr lang="en-US" sz="844" dirty="0"/>
          </a:p>
        </p:txBody>
      </p:sp>
      <p:sp>
        <p:nvSpPr>
          <p:cNvPr id="44" name="Text 41"/>
          <p:cNvSpPr/>
          <p:nvPr/>
        </p:nvSpPr>
        <p:spPr>
          <a:xfrm>
            <a:off x="3950494" y="2002706"/>
            <a:ext cx="12570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Token-boundary matching across 160 verified corpus articles. WHO, UNICEF, IFRC, MoNHSRC sources. Zero hits → abstention, citations: [].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3927634" y="2949826"/>
            <a:ext cx="688546" cy="216402"/>
          </a:xfrm>
          <a:prstGeom prst="roundRect">
            <a:avLst>
              <a:gd name="adj" fmla="val 4397129"/>
            </a:avLst>
          </a:prstGeom>
          <a:solidFill>
            <a:srgbClr val="0EA5E9">
              <a:alpha val="14000"/>
            </a:srgbClr>
          </a:solidFill>
          <a:ln w="7144">
            <a:solidFill>
              <a:srgbClr val="0EA5E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4116081" y="3011425"/>
            <a:ext cx="418807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619" b="1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160 docs</a:t>
            </a:r>
            <a:endParaRPr lang="en-US" sz="619" dirty="0"/>
          </a:p>
        </p:txBody>
      </p:sp>
      <p:sp>
        <p:nvSpPr>
          <p:cNvPr id="47" name="Text 44"/>
          <p:cNvSpPr/>
          <p:nvPr/>
        </p:nvSpPr>
        <p:spPr>
          <a:xfrm>
            <a:off x="4029075" y="301868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5329238" y="206164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688" dirty="0"/>
          </a:p>
        </p:txBody>
      </p:sp>
      <p:sp>
        <p:nvSpPr>
          <p:cNvPr id="49" name="Text 46"/>
          <p:cNvSpPr/>
          <p:nvPr/>
        </p:nvSpPr>
        <p:spPr>
          <a:xfrm>
            <a:off x="5575697" y="1007938"/>
            <a:ext cx="1421606" cy="2278856"/>
          </a:xfrm>
          <a:prstGeom prst="roundRect">
            <a:avLst>
              <a:gd name="adj" fmla="val 10720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5693569" y="1140098"/>
            <a:ext cx="314325" cy="185738"/>
          </a:xfrm>
          <a:prstGeom prst="roundRect">
            <a:avLst>
              <a:gd name="adj" fmla="val 41026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5693569" y="1140098"/>
            <a:ext cx="87042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6535687" y="1177603"/>
            <a:ext cx="386334" cy="17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4</a:t>
            </a:r>
            <a:endParaRPr lang="en-US" sz="600" dirty="0"/>
          </a:p>
        </p:txBody>
      </p:sp>
      <p:sp>
        <p:nvSpPr>
          <p:cNvPr id="53" name="Text 50"/>
          <p:cNvSpPr/>
          <p:nvPr/>
        </p:nvSpPr>
        <p:spPr>
          <a:xfrm>
            <a:off x="5693569" y="1425848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10B981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5726430" y="1458709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55" name="Text 52"/>
          <p:cNvSpPr/>
          <p:nvPr/>
        </p:nvSpPr>
        <p:spPr>
          <a:xfrm>
            <a:off x="5693569" y="1811610"/>
            <a:ext cx="118586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Grounded Generation</a:t>
            </a:r>
            <a:endParaRPr lang="en-US" sz="844" dirty="0"/>
          </a:p>
        </p:txBody>
      </p:sp>
      <p:sp>
        <p:nvSpPr>
          <p:cNvPr id="56" name="Text 53"/>
          <p:cNvSpPr/>
          <p:nvPr/>
        </p:nvSpPr>
        <p:spPr>
          <a:xfrm>
            <a:off x="5693569" y="2002706"/>
            <a:ext cx="12570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7-tier provider cascade with circuit breaker: DashScope → Gemini → Groq → Cerebras → OpenRouter → ZAI → Offline. SSE streaming.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5670709" y="2949826"/>
            <a:ext cx="830528" cy="216402"/>
          </a:xfrm>
          <a:prstGeom prst="roundRect">
            <a:avLst>
              <a:gd name="adj" fmla="val 4397129"/>
            </a:avLst>
          </a:prstGeom>
          <a:solidFill>
            <a:srgbClr val="10B981">
              <a:alpha val="14000"/>
            </a:srgbClr>
          </a:solidFill>
          <a:ln w="7144">
            <a:solidFill>
              <a:srgbClr val="10B98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5"/>
          <p:cNvSpPr/>
          <p:nvPr/>
        </p:nvSpPr>
        <p:spPr>
          <a:xfrm>
            <a:off x="5867094" y="3011425"/>
            <a:ext cx="544914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619" b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providers</a:t>
            </a:r>
            <a:endParaRPr lang="en-US" sz="619" dirty="0"/>
          </a:p>
        </p:txBody>
      </p:sp>
      <p:sp>
        <p:nvSpPr>
          <p:cNvPr id="59" name="Text 56"/>
          <p:cNvSpPr/>
          <p:nvPr/>
        </p:nvSpPr>
        <p:spPr>
          <a:xfrm>
            <a:off x="5772150" y="301868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7072313" y="206164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688" dirty="0"/>
          </a:p>
        </p:txBody>
      </p:sp>
      <p:sp>
        <p:nvSpPr>
          <p:cNvPr id="61" name="Text 58"/>
          <p:cNvSpPr/>
          <p:nvPr/>
        </p:nvSpPr>
        <p:spPr>
          <a:xfrm>
            <a:off x="7318772" y="1007938"/>
            <a:ext cx="1421606" cy="2278856"/>
          </a:xfrm>
          <a:prstGeom prst="roundRect">
            <a:avLst>
              <a:gd name="adj" fmla="val 10720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7436644" y="1140098"/>
            <a:ext cx="314325" cy="185738"/>
          </a:xfrm>
          <a:prstGeom prst="roundRect">
            <a:avLst>
              <a:gd name="adj" fmla="val 41026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0"/>
          <p:cNvSpPr/>
          <p:nvPr/>
        </p:nvSpPr>
        <p:spPr>
          <a:xfrm>
            <a:off x="7436644" y="1140098"/>
            <a:ext cx="87042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L2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8278762" y="1177603"/>
            <a:ext cx="386334" cy="17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5</a:t>
            </a:r>
            <a:endParaRPr lang="en-US" sz="600" dirty="0"/>
          </a:p>
        </p:txBody>
      </p:sp>
      <p:sp>
        <p:nvSpPr>
          <p:cNvPr id="65" name="Text 62"/>
          <p:cNvSpPr/>
          <p:nvPr/>
        </p:nvSpPr>
        <p:spPr>
          <a:xfrm>
            <a:off x="7436644" y="1425848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8B5CF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3"/>
          <p:cNvSpPr/>
          <p:nvPr/>
        </p:nvSpPr>
        <p:spPr>
          <a:xfrm>
            <a:off x="7469505" y="1458709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A78B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688" dirty="0"/>
          </a:p>
        </p:txBody>
      </p:sp>
      <p:sp>
        <p:nvSpPr>
          <p:cNvPr id="67" name="Text 64"/>
          <p:cNvSpPr/>
          <p:nvPr/>
        </p:nvSpPr>
        <p:spPr>
          <a:xfrm>
            <a:off x="7436644" y="1811610"/>
            <a:ext cx="118586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 Validator</a:t>
            </a:r>
            <a:endParaRPr lang="en-US" sz="844" dirty="0"/>
          </a:p>
        </p:txBody>
      </p:sp>
      <p:sp>
        <p:nvSpPr>
          <p:cNvPr id="68" name="Text 65"/>
          <p:cNvSpPr/>
          <p:nvPr/>
        </p:nvSpPr>
        <p:spPr>
          <a:xfrm>
            <a:off x="7436644" y="2002706"/>
            <a:ext cx="12570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Blocks dosages, prescriptions, diagnoses. Strips hallucinated citations. Enforces information-only boundary per DRAP SaMD rules.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7418499" y="2949826"/>
            <a:ext cx="489918" cy="216402"/>
          </a:xfrm>
          <a:prstGeom prst="roundRect">
            <a:avLst>
              <a:gd name="adj" fmla="val 4397129"/>
            </a:avLst>
          </a:prstGeom>
          <a:solidFill>
            <a:srgbClr val="8B5CF6">
              <a:alpha val="14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7"/>
          <p:cNvSpPr/>
          <p:nvPr/>
        </p:nvSpPr>
        <p:spPr>
          <a:xfrm>
            <a:off x="7608704" y="3011425"/>
            <a:ext cx="216664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619" b="1" dirty="0">
                <a:solidFill>
                  <a:srgbClr val="A78B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 Rx</a:t>
            </a:r>
            <a:endParaRPr lang="en-US" sz="619" dirty="0"/>
          </a:p>
        </p:txBody>
      </p:sp>
      <p:sp>
        <p:nvSpPr>
          <p:cNvPr id="71" name="Text 68"/>
          <p:cNvSpPr/>
          <p:nvPr/>
        </p:nvSpPr>
        <p:spPr>
          <a:xfrm>
            <a:off x="7515225" y="301868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800" dirty="0"/>
          </a:p>
        </p:txBody>
      </p:sp>
      <p:pic>
        <p:nvPicPr>
          <p:cNvPr id="7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47529"/>
            <a:ext cx="8229600" cy="357188"/>
          </a:xfrm>
          <a:prstGeom prst="rect">
            <a:avLst/>
          </a:prstGeom>
        </p:spPr>
      </p:pic>
      <p:sp>
        <p:nvSpPr>
          <p:cNvPr id="73" name="Text 69"/>
          <p:cNvSpPr/>
          <p:nvPr/>
        </p:nvSpPr>
        <p:spPr>
          <a:xfrm>
            <a:off x="628650" y="3547542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74" name="Text 70"/>
          <p:cNvSpPr/>
          <p:nvPr/>
        </p:nvSpPr>
        <p:spPr>
          <a:xfrm>
            <a:off x="885825" y="3553569"/>
            <a:ext cx="7629525" cy="151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1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Result: Only verified, citation-grounded, non-prescriptive health information reaches the patient.</a:t>
            </a:r>
            <a:endParaRPr lang="en-US" sz="81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302263"/>
            <a:ext cx="950074" cy="225153"/>
          </a:xfrm>
          <a:prstGeom prst="roundRect">
            <a:avLst>
              <a:gd name="adj" fmla="val 4226226"/>
            </a:avLst>
          </a:prstGeom>
          <a:solidFill>
            <a:srgbClr val="FFE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77449" y="357188"/>
            <a:ext cx="606730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731" spc="15" kern="0" dirty="0">
                <a:solidFill>
                  <a:srgbClr val="E11D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DEMO</a:t>
            </a:r>
            <a:endParaRPr lang="en-US" sz="731" dirty="0"/>
          </a:p>
        </p:txBody>
      </p:sp>
      <p:sp>
        <p:nvSpPr>
          <p:cNvPr id="4" name="Text 2"/>
          <p:cNvSpPr/>
          <p:nvPr/>
        </p:nvSpPr>
        <p:spPr>
          <a:xfrm>
            <a:off x="542925" y="36477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E11D4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984" dirty="0"/>
          </a:p>
        </p:txBody>
      </p:sp>
      <p:sp>
        <p:nvSpPr>
          <p:cNvPr id="5" name="Text 3"/>
          <p:cNvSpPr/>
          <p:nvPr/>
        </p:nvSpPr>
        <p:spPr>
          <a:xfrm>
            <a:off x="457200" y="586792"/>
            <a:ext cx="8636000" cy="280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3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Emergency detection in </a:t>
            </a:r>
            <a:pPr algn="l" indent="0" marL="0">
              <a:lnSpc>
                <a:spcPts val="2199"/>
              </a:lnSpc>
              <a:buNone/>
            </a:pPr>
            <a:r>
              <a:rPr lang="en-US" sz="1913" b="1" spc="-38" kern="0" dirty="0">
                <a:solidFill>
                  <a:srgbClr val="E11D4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67</a:t>
            </a:r>
            <a:pPr algn="l" indent="0" marL="0">
              <a:lnSpc>
                <a:spcPts val="2199"/>
              </a:lnSpc>
              <a:buNone/>
            </a:pPr>
            <a:r>
              <a:rPr lang="en-US" sz="1913" b="1" spc="-3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milliseconds</a:t>
            </a:r>
            <a:endParaRPr lang="en-US" sz="1913" dirty="0"/>
          </a:p>
        </p:txBody>
      </p:sp>
      <p:sp>
        <p:nvSpPr>
          <p:cNvPr id="6" name="Text 4"/>
          <p:cNvSpPr/>
          <p:nvPr/>
        </p:nvSpPr>
        <p:spPr>
          <a:xfrm>
            <a:off x="457200" y="894643"/>
            <a:ext cx="8229600" cy="191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When a patient types chest pain symptoms, the LLM is bypassed entirely.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171798"/>
            <a:ext cx="4351401" cy="13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b="1" spc="50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INPUT (ROMAN URDU)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336439"/>
            <a:ext cx="4029075" cy="326827"/>
          </a:xfrm>
          <a:prstGeom prst="roundRect">
            <a:avLst>
              <a:gd name="adj" fmla="val 4663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1336439"/>
            <a:ext cx="4029075" cy="352973"/>
          </a:xfrm>
          <a:prstGeom prst="rect">
            <a:avLst/>
          </a:prstGeom>
          <a:noFill/>
          <a:ln/>
        </p:spPr>
        <p:txBody>
          <a:bodyPr wrap="square" lIns="100013" tIns="85725" rIns="100013" bIns="85725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Mera seenay mein shadeed dard ho raha hai aur saans phool rahi hai</a:t>
            </a:r>
            <a:endParaRPr lang="en-US" sz="844" dirty="0"/>
          </a:p>
        </p:txBody>
      </p:sp>
      <p:sp>
        <p:nvSpPr>
          <p:cNvPr id="10" name="Text 8"/>
          <p:cNvSpPr/>
          <p:nvPr/>
        </p:nvSpPr>
        <p:spPr>
          <a:xfrm>
            <a:off x="1847664" y="1720416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E11D4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547" dirty="0"/>
          </a:p>
        </p:txBody>
      </p:sp>
      <p:sp>
        <p:nvSpPr>
          <p:cNvPr id="11" name="Text 9"/>
          <p:cNvSpPr/>
          <p:nvPr/>
        </p:nvSpPr>
        <p:spPr>
          <a:xfrm>
            <a:off x="2047689" y="1738052"/>
            <a:ext cx="2438586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b="1" spc="50" kern="0" dirty="0">
                <a:solidFill>
                  <a:srgbClr val="E11D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SHORT-CIRCUITS LLM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1934728"/>
            <a:ext cx="4681282" cy="1372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b="1" spc="50" kern="0" dirty="0">
                <a:solidFill>
                  <a:srgbClr val="E11D4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SYSTEM RESPONSE (67ms)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4344" y="2106513"/>
            <a:ext cx="4014788" cy="1764060"/>
          </a:xfrm>
          <a:prstGeom prst="roundRect">
            <a:avLst>
              <a:gd name="adj" fmla="val 8639"/>
            </a:avLst>
          </a:prstGeom>
          <a:solidFill>
            <a:srgbClr val="FFE4E6"/>
          </a:solidFill>
          <a:ln w="14288">
            <a:solidFill>
              <a:srgbClr val="E11D4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71500" y="221813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E11D4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547" dirty="0"/>
          </a:p>
        </p:txBody>
      </p:sp>
      <p:sp>
        <p:nvSpPr>
          <p:cNvPr id="15" name="Text 13"/>
          <p:cNvSpPr/>
          <p:nvPr/>
        </p:nvSpPr>
        <p:spPr>
          <a:xfrm>
            <a:off x="785813" y="2213670"/>
            <a:ext cx="3586163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b="1" dirty="0">
                <a:solidFill>
                  <a:srgbClr val="9F123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Mumkina dil ki emergency — fori iqdam karein</a:t>
            </a:r>
            <a:endParaRPr lang="en-US" sz="844" dirty="0"/>
          </a:p>
        </p:txBody>
      </p:sp>
      <p:sp>
        <p:nvSpPr>
          <p:cNvPr id="16" name="Text 14"/>
          <p:cNvSpPr/>
          <p:nvPr/>
        </p:nvSpPr>
        <p:spPr>
          <a:xfrm>
            <a:off x="571500" y="2422624"/>
            <a:ext cx="3800475" cy="279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9F123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Seene ka dard aur saans lene mein mushkil WHO ki emergency alamaat se milti hain.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71500" y="2729805"/>
            <a:ext cx="3800475" cy="122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b="1" spc="37" kern="0" dirty="0">
                <a:solidFill>
                  <a:srgbClr val="E11D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FORI IQDAM: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71500" y="2880159"/>
            <a:ext cx="3800475" cy="586859"/>
          </a:xfrm>
          <a:prstGeom prst="rect">
            <a:avLst/>
          </a:prstGeom>
          <a:noFill/>
          <a:ln/>
        </p:spPr>
        <p:txBody>
          <a:bodyPr wrap="square" lIns="64294" tIns="0" rIns="0" bIns="0" rtlCol="0" anchor="t"/>
          <a:lstStyle/>
          <a:p>
            <a:pPr algn="l" marL="64294" indent="-64294">
              <a:lnSpc>
                <a:spcPts val="1090"/>
              </a:lnSpc>
              <a:buSzPct val="100000"/>
              <a:buChar char="•"/>
            </a:pPr>
            <a:r>
              <a:rPr lang="en-US" sz="800" dirty="0">
                <a:solidFill>
                  <a:srgbClr val="9F123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Fauran 1122 par call karein</a:t>
            </a:r>
            <a:endParaRPr lang="en-US" sz="800" dirty="0"/>
          </a:p>
          <a:p>
            <a:pPr algn="l" marL="64294" indent="-64294">
              <a:lnSpc>
                <a:spcPts val="1090"/>
              </a:lnSpc>
              <a:buSzPct val="100000"/>
              <a:buChar char="•"/>
            </a:pPr>
            <a:r>
              <a:rPr lang="en-US" sz="800" dirty="0">
                <a:solidFill>
                  <a:srgbClr val="9F123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Aaram se baith jayein, wo safai na karein</a:t>
            </a:r>
            <a:endParaRPr lang="en-US" sz="800" dirty="0"/>
          </a:p>
          <a:p>
            <a:pPr algn="l" marL="64294" indent="-64294">
              <a:lnSpc>
                <a:spcPts val="1090"/>
              </a:lnSpc>
              <a:buSzPct val="100000"/>
              <a:buChar char="•"/>
            </a:pPr>
            <a:r>
              <a:rPr lang="en-US" sz="800" dirty="0">
                <a:solidFill>
                  <a:srgbClr val="9F123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CPR shuru karein agar behosh ho</a:t>
            </a:r>
            <a:endParaRPr lang="en-US" sz="800" dirty="0"/>
          </a:p>
          <a:p>
            <a:pPr algn="l" marL="64294" indent="-64294">
              <a:lnSpc>
                <a:spcPts val="1090"/>
              </a:lnSpc>
              <a:buSzPct val="100000"/>
              <a:buChar char="•"/>
            </a:pPr>
            <a:r>
              <a:rPr lang="en-US" sz="800" dirty="0">
                <a:solidFill>
                  <a:srgbClr val="9F123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Aspirin 300mg lein agar mil jaye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57225" y="3580693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☎</a:t>
            </a:r>
            <a:endParaRPr lang="en-US" sz="1055" dirty="0"/>
          </a:p>
        </p:txBody>
      </p:sp>
      <p:sp>
        <p:nvSpPr>
          <p:cNvPr id="20" name="Text 18"/>
          <p:cNvSpPr/>
          <p:nvPr/>
        </p:nvSpPr>
        <p:spPr>
          <a:xfrm>
            <a:off x="1230957" y="3580693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☎</a:t>
            </a:r>
            <a:endParaRPr lang="en-US" sz="1055" dirty="0"/>
          </a:p>
        </p:txBody>
      </p:sp>
      <p:sp>
        <p:nvSpPr>
          <p:cNvPr id="21" name="Text 19"/>
          <p:cNvSpPr/>
          <p:nvPr/>
        </p:nvSpPr>
        <p:spPr>
          <a:xfrm>
            <a:off x="1804690" y="3580693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☎</a:t>
            </a:r>
            <a:endParaRPr lang="en-US" sz="1055" dirty="0"/>
          </a:p>
        </p:txBody>
      </p:sp>
      <p:sp>
        <p:nvSpPr>
          <p:cNvPr id="22" name="Text 20"/>
          <p:cNvSpPr/>
          <p:nvPr/>
        </p:nvSpPr>
        <p:spPr>
          <a:xfrm>
            <a:off x="4657725" y="1171798"/>
            <a:ext cx="3724349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b="1" spc="50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SSE STREAM (actual API response)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396362" y="1211200"/>
            <a:ext cx="42863" cy="42863"/>
          </a:xfrm>
          <a:prstGeom prst="roundRect">
            <a:avLst>
              <a:gd name="adj" fmla="val 66666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396362" y="1171798"/>
            <a:ext cx="464701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b="1" spc="50" kern="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57738" y="1450739"/>
            <a:ext cx="175582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// stage: safety  — L0 lexicon match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5072475" y="1566937"/>
            <a:ext cx="455168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"stage"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434976" y="1566937"/>
            <a:ext cx="51751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"safety"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839277" y="1566937"/>
            <a:ext cx="392826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"data"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02929" y="1566937"/>
            <a:ext cx="51751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"engine"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609866" y="1566937"/>
            <a:ext cx="67740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600" dirty="0">
                <a:solidFill>
                  <a:srgbClr val="86EFA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"L0-lexicon"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4848151" y="1683134"/>
            <a:ext cx="564524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6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"redFlags"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5435278" y="1683134"/>
            <a:ext cx="289143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61199" y="1683134"/>
            <a:ext cx="112904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6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"chest_pain_dyspnea"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848151" y="1799332"/>
            <a:ext cx="564524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6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"category"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5344976" y="1799332"/>
            <a:ext cx="58132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"cardiac"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47738" y="1915530"/>
            <a:ext cx="51751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"reason"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254675" y="1915530"/>
            <a:ext cx="136572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6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"Seene ka dard aur saans..."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848151" y="2031727"/>
            <a:ext cx="621032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6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"latencyMs"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5370403" y="2031727"/>
            <a:ext cx="184221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67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757738" y="2264122"/>
            <a:ext cx="180464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stage: triage — short-circuits LLM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5072475" y="2380320"/>
            <a:ext cx="455168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"stage"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434976" y="2380320"/>
            <a:ext cx="51751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"triage"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839277" y="2380320"/>
            <a:ext cx="392826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"data"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201857" y="2380320"/>
            <a:ext cx="455168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"level"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564771" y="2380320"/>
            <a:ext cx="62103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6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"EMERGENCY"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4848151" y="2496517"/>
            <a:ext cx="903294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6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"shortCircuited"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5615992" y="2496517"/>
            <a:ext cx="289143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841500" y="2496517"/>
            <a:ext cx="51751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"engine"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46949" y="2496517"/>
            <a:ext cx="29212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"L0"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757738" y="2728913"/>
            <a:ext cx="209722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stage: emergency — pre-verified template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5072475" y="2845110"/>
            <a:ext cx="455168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"stage"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435389" y="2845110"/>
            <a:ext cx="621032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6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"emergency"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5974785" y="2845110"/>
            <a:ext cx="39282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"data"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848151" y="2961308"/>
            <a:ext cx="1016171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6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"templateCategory"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5706294" y="2961308"/>
            <a:ext cx="58132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"cardiac"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848151" y="3077505"/>
            <a:ext cx="58132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"actions"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345088" y="3077505"/>
            <a:ext cx="1241924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600" dirty="0">
                <a:solidFill>
                  <a:srgbClr val="86EFA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"1122 par call karein"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6383834" y="3077505"/>
            <a:ext cx="90329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6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"CPR shuru kare"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4848151" y="3193703"/>
            <a:ext cx="58132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"numbers"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388698" y="3193703"/>
            <a:ext cx="455168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"label"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751612" y="3193703"/>
            <a:ext cx="73390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600" dirty="0">
                <a:solidFill>
                  <a:srgbClr val="86EFA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"Rescue 1122"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6383532" y="3193703"/>
            <a:ext cx="51751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"number"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763855" y="3193703"/>
            <a:ext cx="440781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"1122"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757738" y="3426098"/>
            <a:ext cx="165829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stage: done — confidence logged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072475" y="3542295"/>
            <a:ext cx="455168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"stage"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432752" y="3542295"/>
            <a:ext cx="392826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"done"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748975" y="3542295"/>
            <a:ext cx="392826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"data"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113041" y="3542295"/>
            <a:ext cx="621032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6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"latencyMs"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6635293" y="3542295"/>
            <a:ext cx="18422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74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4848151" y="3658493"/>
            <a:ext cx="677401" cy="1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6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"confidence"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5477847" y="3658493"/>
            <a:ext cx="392826" cy="1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"band"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770092" y="3658493"/>
            <a:ext cx="440781" cy="1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"HIGH"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6111444" y="3658493"/>
            <a:ext cx="455168" cy="1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"score"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6474358" y="3658493"/>
            <a:ext cx="91440" cy="1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628650" y="4003067"/>
            <a:ext cx="903294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67ms latency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457200" y="400195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77" name="Text 75"/>
          <p:cNvSpPr/>
          <p:nvPr/>
        </p:nvSpPr>
        <p:spPr>
          <a:xfrm>
            <a:off x="1479872" y="3977729"/>
            <a:ext cx="100682" cy="191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1816298" y="4003067"/>
            <a:ext cx="1881653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E11D4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0% LLM hallucination risk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1644848" y="400195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E11D4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266" dirty="0"/>
          </a:p>
        </p:txBody>
      </p:sp>
      <p:sp>
        <p:nvSpPr>
          <p:cNvPr id="80" name="Text 78"/>
          <p:cNvSpPr/>
          <p:nvPr/>
        </p:nvSpPr>
        <p:spPr>
          <a:xfrm>
            <a:off x="3450208" y="3977729"/>
            <a:ext cx="100682" cy="191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3786634" y="4003067"/>
            <a:ext cx="4900166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F59E0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emergency numbers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3615184" y="400195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59E0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▯</a:t>
            </a:r>
            <a:endParaRPr lang="en-US" sz="1266" dirty="0"/>
          </a:p>
        </p:txBody>
      </p:sp>
      <p:sp>
        <p:nvSpPr>
          <p:cNvPr id="83" name="Shape 81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42900" y="4957539"/>
            <a:ext cx="8167427" cy="17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SehatAI · Emergency Triage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8487299" y="4957539"/>
            <a:ext cx="351117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619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302263"/>
            <a:ext cx="1137486" cy="225153"/>
          </a:xfrm>
          <a:prstGeom prst="roundRect">
            <a:avLst>
              <a:gd name="adj" fmla="val 4226226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50612" y="357188"/>
            <a:ext cx="847817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731" spc="15" kern="0" dirty="0">
                <a:solidFill>
                  <a:srgbClr val="0EA5E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LOCALIZATION</a:t>
            </a:r>
            <a:endParaRPr lang="en-US" sz="731" dirty="0"/>
          </a:p>
        </p:txBody>
      </p:sp>
      <p:sp>
        <p:nvSpPr>
          <p:cNvPr id="4" name="Text 2"/>
          <p:cNvSpPr/>
          <p:nvPr/>
        </p:nvSpPr>
        <p:spPr>
          <a:xfrm>
            <a:off x="542925" y="36477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EA5E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984" dirty="0"/>
          </a:p>
        </p:txBody>
      </p:sp>
      <p:sp>
        <p:nvSpPr>
          <p:cNvPr id="5" name="Text 3"/>
          <p:cNvSpPr/>
          <p:nvPr/>
        </p:nvSpPr>
        <p:spPr>
          <a:xfrm>
            <a:off x="457200" y="586792"/>
            <a:ext cx="8636000" cy="280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3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Three languages, one health identity</a:t>
            </a:r>
            <a:endParaRPr lang="en-US" sz="1913" dirty="0"/>
          </a:p>
        </p:txBody>
      </p:sp>
      <p:sp>
        <p:nvSpPr>
          <p:cNvPr id="6" name="Text 4"/>
          <p:cNvSpPr/>
          <p:nvPr/>
        </p:nvSpPr>
        <p:spPr>
          <a:xfrm>
            <a:off x="457200" y="894643"/>
            <a:ext cx="8229600" cy="191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English · Urdu Nastaliq (اردو) · Roman Urdu — with full RTL support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0772" y="1203945"/>
            <a:ext cx="2640732" cy="1925910"/>
          </a:xfrm>
          <a:prstGeom prst="roundRect">
            <a:avLst>
              <a:gd name="adj" fmla="val 791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7219" y="1350392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7219" y="1350392"/>
            <a:ext cx="35718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21"/>
              </a:lnSpc>
              <a:buNone/>
            </a:pPr>
            <a:r>
              <a:rPr lang="en-US" sz="800" b="1" spc="32" kern="0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07269" y="1368028"/>
            <a:ext cx="1015270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English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007269" y="1525191"/>
            <a:ext cx="954145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619" spc="25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LATIN SCRIPT · LTR</a:t>
            </a:r>
            <a:endParaRPr lang="en-US" sz="619" dirty="0"/>
          </a:p>
        </p:txBody>
      </p:sp>
      <p:sp>
        <p:nvSpPr>
          <p:cNvPr id="12" name="Text 10"/>
          <p:cNvSpPr/>
          <p:nvPr/>
        </p:nvSpPr>
        <p:spPr>
          <a:xfrm>
            <a:off x="607219" y="1750442"/>
            <a:ext cx="2347838" cy="471488"/>
          </a:xfrm>
          <a:prstGeom prst="roundRect">
            <a:avLst>
              <a:gd name="adj" fmla="val 2828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7219" y="1750442"/>
            <a:ext cx="2347838" cy="517289"/>
          </a:xfrm>
          <a:prstGeom prst="rect">
            <a:avLst/>
          </a:prstGeom>
          <a:noFill/>
          <a:ln/>
        </p:spPr>
        <p:txBody>
          <a:bodyPr wrap="square" lIns="100013" tIns="85725" rIns="100013" bIns="85725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 have a headache and fever. What should I do?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7219" y="234337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778669" y="2336229"/>
            <a:ext cx="21763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LTR layout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7219" y="251571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778669" y="2508572"/>
            <a:ext cx="21763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Clinical terminology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07219" y="268805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778669" y="2680915"/>
            <a:ext cx="2176388" cy="159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WHO source citations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51522" y="1203945"/>
            <a:ext cx="2640843" cy="1925910"/>
          </a:xfrm>
          <a:prstGeom prst="roundRect">
            <a:avLst>
              <a:gd name="adj" fmla="val 7913"/>
            </a:avLst>
          </a:prstGeom>
          <a:solidFill>
            <a:srgbClr val="D1FAE5">
              <a:alpha val="45000"/>
            </a:srgbClr>
          </a:solidFill>
          <a:ln w="7144">
            <a:solidFill>
              <a:srgbClr val="05966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431594" y="1355527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429694" y="1355527"/>
            <a:ext cx="3181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69"/>
              </a:lnSpc>
              <a:buNone/>
            </a:pPr>
            <a:r>
              <a:rPr lang="en-US" sz="1013" b="1" spc="41" kern="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اردو</a:t>
            </a:r>
            <a:endParaRPr lang="en-US" sz="1013" dirty="0"/>
          </a:p>
        </p:txBody>
      </p:sp>
      <p:sp>
        <p:nvSpPr>
          <p:cNvPr id="23" name="Text 21"/>
          <p:cNvSpPr/>
          <p:nvPr/>
        </p:nvSpPr>
        <p:spPr>
          <a:xfrm>
            <a:off x="4102426" y="1350392"/>
            <a:ext cx="1243443" cy="1753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4785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Urdu (Nastaliq)</a:t>
            </a:r>
            <a:endParaRPr lang="en-US" sz="1238" dirty="0"/>
          </a:p>
        </p:txBody>
      </p:sp>
      <p:sp>
        <p:nvSpPr>
          <p:cNvPr id="24" name="Text 22"/>
          <p:cNvSpPr/>
          <p:nvPr/>
        </p:nvSpPr>
        <p:spPr>
          <a:xfrm>
            <a:off x="4069602" y="1553208"/>
            <a:ext cx="1276267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59"/>
              </a:lnSpc>
              <a:buNone/>
            </a:pPr>
            <a:r>
              <a:rPr lang="en-US" sz="800" spc="25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PERSO-ARABIC · RTL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97969" y="1760711"/>
            <a:ext cx="2347950" cy="634231"/>
          </a:xfrm>
          <a:prstGeom prst="roundRect">
            <a:avLst>
              <a:gd name="adj" fmla="val 21025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397969" y="1760711"/>
            <a:ext cx="2347950" cy="684970"/>
          </a:xfrm>
          <a:prstGeom prst="rect">
            <a:avLst/>
          </a:prstGeom>
          <a:noFill/>
          <a:ln/>
        </p:spPr>
        <p:txBody>
          <a:bodyPr wrap="square" lIns="100013" tIns="85725" rIns="100013" bIns="85725" rtlCol="0" anchor="t"/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013" dirty="0">
                <a:solidFill>
                  <a:srgbClr val="04785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میرے سر میں درد ہے اور بخار ہے۔ میں کیا کروں؟</a:t>
            </a:r>
            <a:endParaRPr lang="en-US" sz="1013" dirty="0"/>
          </a:p>
        </p:txBody>
      </p:sp>
      <p:sp>
        <p:nvSpPr>
          <p:cNvPr id="27" name="Text 25"/>
          <p:cNvSpPr/>
          <p:nvPr/>
        </p:nvSpPr>
        <p:spPr>
          <a:xfrm>
            <a:off x="3397969" y="251638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3569419" y="2509242"/>
            <a:ext cx="2176500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RTL layout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97969" y="268872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3569419" y="2681585"/>
            <a:ext cx="2176500" cy="159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Nastaliq font rendering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97969" y="286107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3569419" y="2853928"/>
            <a:ext cx="217650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Cultural medical context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042385" y="1203945"/>
            <a:ext cx="2640732" cy="1925910"/>
          </a:xfrm>
          <a:prstGeom prst="roundRect">
            <a:avLst>
              <a:gd name="adj" fmla="val 7913"/>
            </a:avLst>
          </a:prstGeom>
          <a:solidFill>
            <a:srgbClr val="FEF3C7">
              <a:alpha val="50000"/>
            </a:srgbClr>
          </a:solidFill>
          <a:ln w="7144">
            <a:solidFill>
              <a:srgbClr val="F59E0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188832" y="1350392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88832" y="1350392"/>
            <a:ext cx="35718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b="1" spc="2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ROMAN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588882" y="1368028"/>
            <a:ext cx="1166652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Roman Urdu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6588882" y="1525191"/>
            <a:ext cx="1197448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spc="25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LATIN SCRIPT · LTR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88832" y="1750442"/>
            <a:ext cx="2347838" cy="471488"/>
          </a:xfrm>
          <a:prstGeom prst="roundRect">
            <a:avLst>
              <a:gd name="adj" fmla="val 28283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188832" y="1750442"/>
            <a:ext cx="2347838" cy="517289"/>
          </a:xfrm>
          <a:prstGeom prst="rect">
            <a:avLst/>
          </a:prstGeom>
          <a:noFill/>
          <a:ln/>
        </p:spPr>
        <p:txBody>
          <a:bodyPr wrap="square" lIns="100013" tIns="85725" rIns="100013" bIns="85725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Mere sir mein dard hai aur bukhar hai. Main kya karoon?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188832" y="234337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6360282" y="2336229"/>
            <a:ext cx="2176388" cy="159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Most accessible form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188832" y="251571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43" name="Text 41"/>
          <p:cNvSpPr/>
          <p:nvPr/>
        </p:nvSpPr>
        <p:spPr>
          <a:xfrm>
            <a:off x="6360282" y="2508572"/>
            <a:ext cx="2176388" cy="159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SMS-style input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188832" y="268805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45" name="Text 43"/>
          <p:cNvSpPr/>
          <p:nvPr/>
        </p:nvSpPr>
        <p:spPr>
          <a:xfrm>
            <a:off x="6360282" y="2680915"/>
            <a:ext cx="2176388" cy="159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Bridges literacy gap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57200" y="3290590"/>
            <a:ext cx="8229600" cy="694283"/>
          </a:xfrm>
          <a:prstGeom prst="roundRect">
            <a:avLst>
              <a:gd name="adj" fmla="val 2195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14363" y="3480569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47224" y="3513430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688" dirty="0"/>
          </a:p>
        </p:txBody>
      </p:sp>
      <p:sp>
        <p:nvSpPr>
          <p:cNvPr id="49" name="Text 47"/>
          <p:cNvSpPr/>
          <p:nvPr/>
        </p:nvSpPr>
        <p:spPr>
          <a:xfrm>
            <a:off x="1042988" y="3419177"/>
            <a:ext cx="6235248" cy="141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Auto-detection achieves </a:t>
            </a:r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98%</a:t>
            </a:r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accuracy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42988" y="3588395"/>
            <a:ext cx="5773378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Using script analysis (Perso-Arabic vs Latin) and Roman-Urdu lexical patterns. Users can switch language mid-conversation — chat history and triage context are preserved across the switch.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930665" y="3525099"/>
            <a:ext cx="864729" cy="225153"/>
          </a:xfrm>
          <a:prstGeom prst="roundRect">
            <a:avLst>
              <a:gd name="adj" fmla="val 4226226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930665" y="3537161"/>
            <a:ext cx="864729" cy="20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spc="15" kern="0" dirty="0">
                <a:solidFill>
                  <a:srgbClr val="04785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98% accuracy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838256" y="3525099"/>
            <a:ext cx="691381" cy="225153"/>
          </a:xfrm>
          <a:prstGeom prst="roundRect">
            <a:avLst>
              <a:gd name="adj" fmla="val 422622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7838256" y="3537161"/>
            <a:ext cx="691381" cy="20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spc="15" kern="0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scripts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2900" y="4957539"/>
            <a:ext cx="8167427" cy="17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SehatAI · Trilingual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487299" y="4957539"/>
            <a:ext cx="351117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619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302263"/>
            <a:ext cx="907100" cy="225153"/>
          </a:xfrm>
          <a:prstGeom prst="roundRect">
            <a:avLst>
              <a:gd name="adj" fmla="val 4226226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71304" y="357188"/>
            <a:ext cx="576046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731" spc="15" kern="0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FEATURES</a:t>
            </a:r>
            <a:endParaRPr lang="en-US" sz="731" dirty="0"/>
          </a:p>
        </p:txBody>
      </p:sp>
      <p:sp>
        <p:nvSpPr>
          <p:cNvPr id="4" name="Text 2"/>
          <p:cNvSpPr/>
          <p:nvPr/>
        </p:nvSpPr>
        <p:spPr>
          <a:xfrm>
            <a:off x="542925" y="36477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478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984" dirty="0"/>
          </a:p>
        </p:txBody>
      </p:sp>
      <p:sp>
        <p:nvSpPr>
          <p:cNvPr id="5" name="Text 3"/>
          <p:cNvSpPr/>
          <p:nvPr/>
        </p:nvSpPr>
        <p:spPr>
          <a:xfrm>
            <a:off x="457200" y="586792"/>
            <a:ext cx="8636000" cy="30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3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Beyond chat — a complete health companion</a:t>
            </a:r>
            <a:endParaRPr lang="en-US" sz="1913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80368"/>
            <a:ext cx="4064794" cy="1493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593306" y="766056"/>
            <a:ext cx="1143000" cy="114300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664744" y="2116224"/>
            <a:ext cx="642938" cy="642938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85788" y="1108956"/>
            <a:ext cx="257175" cy="257175"/>
          </a:xfrm>
          <a:prstGeom prst="roundRect">
            <a:avLst>
              <a:gd name="adj" fmla="val 37037"/>
            </a:avLst>
          </a:prstGeom>
          <a:solidFill>
            <a:srgbClr val="FFFFFF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00432" y="1123600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547" dirty="0"/>
          </a:p>
        </p:txBody>
      </p:sp>
      <p:sp>
        <p:nvSpPr>
          <p:cNvPr id="11" name="Text 8"/>
          <p:cNvSpPr/>
          <p:nvPr/>
        </p:nvSpPr>
        <p:spPr>
          <a:xfrm>
            <a:off x="928688" y="1160413"/>
            <a:ext cx="3464719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Intelligent Safe Chat</a:t>
            </a:r>
            <a:endParaRPr lang="en-US" sz="1013" dirty="0"/>
          </a:p>
        </p:txBody>
      </p:sp>
      <p:sp>
        <p:nvSpPr>
          <p:cNvPr id="12" name="Text 9"/>
          <p:cNvSpPr/>
          <p:nvPr/>
        </p:nvSpPr>
        <p:spPr>
          <a:xfrm>
            <a:off x="585788" y="1423281"/>
            <a:ext cx="3807619" cy="31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FFFFFF">
                    <a:alpha val="9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SSE streaming with visible 5-stage pipeline. Every response includes citations from WHO, UNICEF, and MoNHSRC. Refuses diagnosis and prescription.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85788" y="2170305"/>
            <a:ext cx="755452" cy="184398"/>
          </a:xfrm>
          <a:prstGeom prst="roundRect">
            <a:avLst>
              <a:gd name="adj" fmla="val 516029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36915" y="2180183"/>
            <a:ext cx="853196" cy="1646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SSE streaming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384102" y="2170305"/>
            <a:ext cx="831800" cy="184398"/>
          </a:xfrm>
          <a:prstGeom prst="roundRect">
            <a:avLst>
              <a:gd name="adj" fmla="val 516029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384102" y="2180183"/>
            <a:ext cx="831800" cy="1646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5-stage pipeline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258764" y="2170305"/>
            <a:ext cx="346025" cy="184398"/>
          </a:xfrm>
          <a:prstGeom prst="roundRect">
            <a:avLst>
              <a:gd name="adj" fmla="val 516029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252148" y="2180183"/>
            <a:ext cx="359258" cy="1646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Cited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625578" y="983940"/>
            <a:ext cx="1975247" cy="148590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757738" y="1116099"/>
            <a:ext cx="257175" cy="257175"/>
          </a:xfrm>
          <a:prstGeom prst="roundRect">
            <a:avLst>
              <a:gd name="adj" fmla="val 37037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782741" y="1141102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1406" dirty="0"/>
          </a:p>
        </p:txBody>
      </p:sp>
      <p:sp>
        <p:nvSpPr>
          <p:cNvPr id="22" name="Text 19"/>
          <p:cNvSpPr/>
          <p:nvPr/>
        </p:nvSpPr>
        <p:spPr>
          <a:xfrm>
            <a:off x="4757738" y="1430424"/>
            <a:ext cx="1710928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Facility Finder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757738" y="1624645"/>
            <a:ext cx="1710928" cy="47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GPS-routed directory of BHUs, RHCs, THQ/DHQ hospitals, and 24/7 pharmacies across Pakistan.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707981" y="983940"/>
            <a:ext cx="1975247" cy="148590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840141" y="1116099"/>
            <a:ext cx="257175" cy="257175"/>
          </a:xfrm>
          <a:prstGeom prst="roundRect">
            <a:avLst>
              <a:gd name="adj" fmla="val 37037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865144" y="1141102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406" dirty="0"/>
          </a:p>
        </p:txBody>
      </p:sp>
      <p:sp>
        <p:nvSpPr>
          <p:cNvPr id="27" name="Text 24"/>
          <p:cNvSpPr/>
          <p:nvPr/>
        </p:nvSpPr>
        <p:spPr>
          <a:xfrm>
            <a:off x="6840141" y="1430424"/>
            <a:ext cx="1710928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Reminders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840141" y="1624645"/>
            <a:ext cx="1710928" cy="47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EPI childhood vaccines, antenatal visits, daily medications. Push-notification enabled.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7200" y="2573424"/>
            <a:ext cx="1982391" cy="1493044"/>
          </a:xfrm>
          <a:prstGeom prst="roundRect">
            <a:avLst>
              <a:gd name="adj" fmla="val 8931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85788" y="2702012"/>
            <a:ext cx="257175" cy="257175"/>
          </a:xfrm>
          <a:prstGeom prst="roundRect">
            <a:avLst>
              <a:gd name="adj" fmla="val 37037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610791" y="2727015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1406" dirty="0"/>
          </a:p>
        </p:txBody>
      </p:sp>
      <p:sp>
        <p:nvSpPr>
          <p:cNvPr id="32" name="Text 29"/>
          <p:cNvSpPr/>
          <p:nvPr/>
        </p:nvSpPr>
        <p:spPr>
          <a:xfrm>
            <a:off x="585788" y="3016337"/>
            <a:ext cx="1725216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Voice Input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85788" y="3210558"/>
            <a:ext cx="1725216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9240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Speech-to-text in Urdu &amp; English. For low-literacy users who prefer speaking.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2543175" y="2576996"/>
            <a:ext cx="1975247" cy="148590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2675334" y="2709156"/>
            <a:ext cx="257175" cy="257175"/>
          </a:xfrm>
          <a:prstGeom prst="roundRect">
            <a:avLst>
              <a:gd name="adj" fmla="val 37037"/>
            </a:avLst>
          </a:prstGeom>
          <a:solidFill>
            <a:srgbClr val="FFE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2700338" y="2734159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E11D4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1406" dirty="0"/>
          </a:p>
        </p:txBody>
      </p:sp>
      <p:sp>
        <p:nvSpPr>
          <p:cNvPr id="37" name="Text 34"/>
          <p:cNvSpPr/>
          <p:nvPr/>
        </p:nvSpPr>
        <p:spPr>
          <a:xfrm>
            <a:off x="2675334" y="3023481"/>
            <a:ext cx="1710928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Doctor Copilot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2675334" y="3217701"/>
            <a:ext cx="1710928" cy="47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PMDC-verified portal: AI-drafted SOAP notes, drug-interaction checker, FHIR export, follow-up tracking.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4622006" y="2573424"/>
            <a:ext cx="4064794" cy="1493044"/>
          </a:xfrm>
          <a:prstGeom prst="roundRect">
            <a:avLst>
              <a:gd name="adj" fmla="val 893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7972425" y="3423531"/>
            <a:ext cx="857250" cy="857250"/>
          </a:xfrm>
          <a:prstGeom prst="ellipse">
            <a:avLst/>
          </a:prstGeom>
          <a:solidFill>
            <a:srgbClr val="0EA5E9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4750594" y="2702012"/>
            <a:ext cx="257175" cy="257175"/>
          </a:xfrm>
          <a:prstGeom prst="roundRect">
            <a:avLst>
              <a:gd name="adj" fmla="val 37037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4775597" y="2727015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EA5E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43" name="Text 40"/>
          <p:cNvSpPr/>
          <p:nvPr/>
        </p:nvSpPr>
        <p:spPr>
          <a:xfrm>
            <a:off x="5093494" y="2762064"/>
            <a:ext cx="3464719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Visit Summary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4750594" y="3016337"/>
            <a:ext cx="3807619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One-click printable clinical summary of symptoms, timeline, and triage history. Shareable via QR code for the doctor.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750594" y="3733071"/>
            <a:ext cx="659681" cy="216402"/>
          </a:xfrm>
          <a:prstGeom prst="roundRect">
            <a:avLst>
              <a:gd name="adj" fmla="val 26409"/>
            </a:avLst>
          </a:prstGeom>
          <a:solidFill>
            <a:srgbClr val="FFFFFF"/>
          </a:solidFill>
          <a:ln w="7144">
            <a:solidFill>
              <a:srgbClr val="E0F2F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4926413" y="3794671"/>
            <a:ext cx="529499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0EA5E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QR share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4814888" y="3791210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EA5E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48" name="Text 45"/>
          <p:cNvSpPr/>
          <p:nvPr/>
        </p:nvSpPr>
        <p:spPr>
          <a:xfrm>
            <a:off x="5467424" y="3733071"/>
            <a:ext cx="663476" cy="216402"/>
          </a:xfrm>
          <a:prstGeom prst="roundRect">
            <a:avLst>
              <a:gd name="adj" fmla="val 26409"/>
            </a:avLst>
          </a:prstGeom>
          <a:solidFill>
            <a:srgbClr val="FFFFFF"/>
          </a:solidFill>
          <a:ln w="7144">
            <a:solidFill>
              <a:srgbClr val="D1FA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5660306" y="3794671"/>
            <a:ext cx="2897907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Printable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5531718" y="3791210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⎙</a:t>
            </a:r>
            <a:endParaRPr lang="en-US" sz="984" dirty="0"/>
          </a:p>
        </p:txBody>
      </p:sp>
      <p:sp>
        <p:nvSpPr>
          <p:cNvPr id="51" name="Text 48"/>
          <p:cNvSpPr/>
          <p:nvPr/>
        </p:nvSpPr>
        <p:spPr>
          <a:xfrm>
            <a:off x="460772" y="4184340"/>
            <a:ext cx="8222456" cy="327161"/>
          </a:xfrm>
          <a:prstGeom prst="roundRect">
            <a:avLst>
              <a:gd name="adj" fmla="val 3493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592931" y="429071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53" name="Text 50"/>
          <p:cNvSpPr/>
          <p:nvPr/>
        </p:nvSpPr>
        <p:spPr>
          <a:xfrm>
            <a:off x="750094" y="4270400"/>
            <a:ext cx="28914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160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973671" y="4281450"/>
            <a:ext cx="737301" cy="15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corpus articles</a:t>
            </a:r>
            <a:endParaRPr lang="en-US" sz="675" dirty="0"/>
          </a:p>
        </p:txBody>
      </p:sp>
      <p:sp>
        <p:nvSpPr>
          <p:cNvPr id="55" name="Text 52"/>
          <p:cNvSpPr/>
          <p:nvPr/>
        </p:nvSpPr>
        <p:spPr>
          <a:xfrm>
            <a:off x="2248607" y="4259349"/>
            <a:ext cx="670061" cy="177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|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2932956" y="429071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E11D4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125" dirty="0"/>
          </a:p>
        </p:txBody>
      </p:sp>
      <p:sp>
        <p:nvSpPr>
          <p:cNvPr id="57" name="Text 54"/>
          <p:cNvSpPr/>
          <p:nvPr/>
        </p:nvSpPr>
        <p:spPr>
          <a:xfrm>
            <a:off x="3090118" y="4270400"/>
            <a:ext cx="19270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E11D4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28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3253420" y="4281450"/>
            <a:ext cx="1018433" cy="15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emergency patterns</a:t>
            </a:r>
            <a:endParaRPr lang="en-US" sz="675" dirty="0"/>
          </a:p>
        </p:txBody>
      </p:sp>
      <p:sp>
        <p:nvSpPr>
          <p:cNvPr id="59" name="Text 56"/>
          <p:cNvSpPr/>
          <p:nvPr/>
        </p:nvSpPr>
        <p:spPr>
          <a:xfrm>
            <a:off x="4768230" y="4259349"/>
            <a:ext cx="669950" cy="177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|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5452467" y="429071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EA5E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125" dirty="0"/>
          </a:p>
        </p:txBody>
      </p:sp>
      <p:sp>
        <p:nvSpPr>
          <p:cNvPr id="61" name="Text 58"/>
          <p:cNvSpPr/>
          <p:nvPr/>
        </p:nvSpPr>
        <p:spPr>
          <a:xfrm>
            <a:off x="5609630" y="4270400"/>
            <a:ext cx="9644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0EA5E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5703619" y="4281450"/>
            <a:ext cx="719884" cy="15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 providers</a:t>
            </a:r>
            <a:endParaRPr lang="en-US" sz="675" dirty="0"/>
          </a:p>
        </p:txBody>
      </p:sp>
      <p:sp>
        <p:nvSpPr>
          <p:cNvPr id="63" name="Text 60"/>
          <p:cNvSpPr/>
          <p:nvPr/>
        </p:nvSpPr>
        <p:spPr>
          <a:xfrm>
            <a:off x="6957231" y="4259349"/>
            <a:ext cx="670061" cy="177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|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7641580" y="429071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59E0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125" dirty="0"/>
          </a:p>
        </p:txBody>
      </p:sp>
      <p:sp>
        <p:nvSpPr>
          <p:cNvPr id="65" name="Text 62"/>
          <p:cNvSpPr/>
          <p:nvPr/>
        </p:nvSpPr>
        <p:spPr>
          <a:xfrm>
            <a:off x="7798743" y="4270400"/>
            <a:ext cx="28914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F59E0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139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7968226" y="4281450"/>
            <a:ext cx="636937" cy="15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golden tests</a:t>
            </a:r>
            <a:endParaRPr lang="en-US" sz="675" dirty="0"/>
          </a:p>
        </p:txBody>
      </p:sp>
      <p:sp>
        <p:nvSpPr>
          <p:cNvPr id="67" name="Shape 64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342900" y="4957539"/>
            <a:ext cx="8167427" cy="17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SehatAI · Feature Suite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8487299" y="4957539"/>
            <a:ext cx="351117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619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34340" y="302263"/>
            <a:ext cx="1084243" cy="225153"/>
          </a:xfrm>
          <a:prstGeom prst="roundRect">
            <a:avLst>
              <a:gd name="adj" fmla="val 4226226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58466" y="357188"/>
            <a:ext cx="778866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15" kern="0" dirty="0">
                <a:solidFill>
                  <a:srgbClr val="0EA5E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42925" y="36477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EA5E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984" dirty="0"/>
          </a:p>
        </p:txBody>
      </p:sp>
      <p:sp>
        <p:nvSpPr>
          <p:cNvPr id="7" name="Text 4"/>
          <p:cNvSpPr/>
          <p:nvPr/>
        </p:nvSpPr>
        <p:spPr>
          <a:xfrm>
            <a:off x="457200" y="586792"/>
            <a:ext cx="8636000" cy="280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38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Built on a modern, resilient, production-grade stack</a:t>
            </a:r>
            <a:endParaRPr lang="en-US" sz="1913" dirty="0"/>
          </a:p>
        </p:txBody>
      </p:sp>
      <p:sp>
        <p:nvSpPr>
          <p:cNvPr id="8" name="Text 5"/>
          <p:cNvSpPr/>
          <p:nvPr/>
        </p:nvSpPr>
        <p:spPr>
          <a:xfrm>
            <a:off x="457200" y="894643"/>
            <a:ext cx="8229600" cy="191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Next.js 16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React 19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TypeScript 5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Prisma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Tailwind CSS 4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1200373"/>
            <a:ext cx="5944412" cy="1514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b="1" spc="50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CORE STACK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60772" y="1382874"/>
            <a:ext cx="1541599" cy="928129"/>
          </a:xfrm>
          <a:prstGeom prst="roundRect">
            <a:avLst>
              <a:gd name="adj" fmla="val 12315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78644" y="1500746"/>
            <a:ext cx="242888" cy="242888"/>
          </a:xfrm>
          <a:prstGeom prst="roundRect">
            <a:avLst>
              <a:gd name="adj" fmla="val 35294"/>
            </a:avLst>
          </a:prstGeom>
          <a:solidFill>
            <a:srgbClr val="059669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06862" y="152896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3" name="Text 10"/>
          <p:cNvSpPr/>
          <p:nvPr/>
        </p:nvSpPr>
        <p:spPr>
          <a:xfrm>
            <a:off x="578644" y="1786496"/>
            <a:ext cx="1305855" cy="1593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Next.js 16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78644" y="1973238"/>
            <a:ext cx="1384206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 Router · SSE Streaming · Server Actions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095240" y="1382874"/>
            <a:ext cx="1541599" cy="928129"/>
          </a:xfrm>
          <a:prstGeom prst="roundRect">
            <a:avLst>
              <a:gd name="adj" fmla="val 12315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213111" y="1500746"/>
            <a:ext cx="242888" cy="242888"/>
          </a:xfrm>
          <a:prstGeom prst="roundRect">
            <a:avLst>
              <a:gd name="adj" fmla="val 35294"/>
            </a:avLst>
          </a:prstGeom>
          <a:solidFill>
            <a:srgbClr val="0EA5E9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241329" y="152896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EA5E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2213111" y="1786496"/>
            <a:ext cx="1305855" cy="1593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React 19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213111" y="1973238"/>
            <a:ext cx="1384206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Concurrent rendering · Server Components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729707" y="1382874"/>
            <a:ext cx="1541599" cy="928129"/>
          </a:xfrm>
          <a:prstGeom prst="roundRect">
            <a:avLst>
              <a:gd name="adj" fmla="val 12315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3847579" y="1500746"/>
            <a:ext cx="242888" cy="242888"/>
          </a:xfrm>
          <a:prstGeom prst="roundRect">
            <a:avLst>
              <a:gd name="adj" fmla="val 35294"/>
            </a:avLst>
          </a:prstGeom>
          <a:solidFill>
            <a:srgbClr val="F59E0B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3875797" y="152896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59E0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3" name="Text 20"/>
          <p:cNvSpPr/>
          <p:nvPr/>
        </p:nvSpPr>
        <p:spPr>
          <a:xfrm>
            <a:off x="3847579" y="1786496"/>
            <a:ext cx="1305855" cy="1593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TypeScript 5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847579" y="1973238"/>
            <a:ext cx="1384206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Strict typing · 100% type-safe</a:t>
            </a:r>
            <a:endParaRPr lang="en-US" sz="619" dirty="0"/>
          </a:p>
        </p:txBody>
      </p:sp>
      <p:sp>
        <p:nvSpPr>
          <p:cNvPr id="25" name="Text 22"/>
          <p:cNvSpPr/>
          <p:nvPr/>
        </p:nvSpPr>
        <p:spPr>
          <a:xfrm>
            <a:off x="460772" y="2403872"/>
            <a:ext cx="1541599" cy="928129"/>
          </a:xfrm>
          <a:prstGeom prst="roundRect">
            <a:avLst>
              <a:gd name="adj" fmla="val 12315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78644" y="2521744"/>
            <a:ext cx="242888" cy="242888"/>
          </a:xfrm>
          <a:prstGeom prst="roundRect">
            <a:avLst>
              <a:gd name="adj" fmla="val 35294"/>
            </a:avLst>
          </a:prstGeom>
          <a:solidFill>
            <a:srgbClr val="E11D48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06862" y="2549962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B71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8" name="Text 25"/>
          <p:cNvSpPr/>
          <p:nvPr/>
        </p:nvSpPr>
        <p:spPr>
          <a:xfrm>
            <a:off x="578644" y="2807494"/>
            <a:ext cx="1305855" cy="1593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Prisma 6 + SQLite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78644" y="2994236"/>
            <a:ext cx="1384206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Type-safe ORM · Local-first PHI storage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2095240" y="2403872"/>
            <a:ext cx="1541599" cy="928129"/>
          </a:xfrm>
          <a:prstGeom prst="roundRect">
            <a:avLst>
              <a:gd name="adj" fmla="val 12315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2213111" y="2521744"/>
            <a:ext cx="242888" cy="242888"/>
          </a:xfrm>
          <a:prstGeom prst="roundRect">
            <a:avLst>
              <a:gd name="adj" fmla="val 35294"/>
            </a:avLst>
          </a:prstGeom>
          <a:solidFill>
            <a:srgbClr val="8B5CF6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2241329" y="2549962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A78B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3" name="Text 30"/>
          <p:cNvSpPr/>
          <p:nvPr/>
        </p:nvSpPr>
        <p:spPr>
          <a:xfrm>
            <a:off x="2213111" y="2807494"/>
            <a:ext cx="1305855" cy="1593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Tailwind CSS 4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2213111" y="2994236"/>
            <a:ext cx="1384206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shadcn/ui · RTL support · Dark mode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3729707" y="2403872"/>
            <a:ext cx="1541599" cy="928129"/>
          </a:xfrm>
          <a:prstGeom prst="roundRect">
            <a:avLst>
              <a:gd name="adj" fmla="val 12315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3847579" y="2521744"/>
            <a:ext cx="242888" cy="242888"/>
          </a:xfrm>
          <a:prstGeom prst="roundRect">
            <a:avLst>
              <a:gd name="adj" fmla="val 35294"/>
            </a:avLst>
          </a:prstGeom>
          <a:solidFill>
            <a:srgbClr val="059669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3875797" y="2549962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8" name="Text 35"/>
          <p:cNvSpPr/>
          <p:nvPr/>
        </p:nvSpPr>
        <p:spPr>
          <a:xfrm>
            <a:off x="3847579" y="2807494"/>
            <a:ext cx="1305855" cy="1593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NextAuth.js v4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3847579" y="2994236"/>
            <a:ext cx="1384206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Credentials + Google OAuth · Role-based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478475" y="1203945"/>
            <a:ext cx="3204642" cy="2894112"/>
          </a:xfrm>
          <a:prstGeom prst="roundRect">
            <a:avLst>
              <a:gd name="adj" fmla="val 4608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5610634" y="1336104"/>
            <a:ext cx="2375297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7-Tier LLM Provider Cascade</a:t>
            </a:r>
            <a:endParaRPr lang="en-US" sz="844" dirty="0"/>
          </a:p>
        </p:txBody>
      </p:sp>
      <p:sp>
        <p:nvSpPr>
          <p:cNvPr id="42" name="Text 39"/>
          <p:cNvSpPr/>
          <p:nvPr/>
        </p:nvSpPr>
        <p:spPr>
          <a:xfrm>
            <a:off x="7978189" y="1333140"/>
            <a:ext cx="594798" cy="172022"/>
          </a:xfrm>
          <a:prstGeom prst="roundRect">
            <a:avLst>
              <a:gd name="adj" fmla="val 5531545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8057369" y="1397719"/>
            <a:ext cx="42863" cy="42863"/>
          </a:xfrm>
          <a:prstGeom prst="roundRect">
            <a:avLst>
              <a:gd name="adj" fmla="val 66666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7997651" y="1342355"/>
            <a:ext cx="555874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72"/>
              </a:lnSpc>
              <a:buNone/>
            </a:pPr>
            <a:r>
              <a:rPr lang="en-US" sz="800" b="1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HEALTHY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5614206" y="1591494"/>
            <a:ext cx="2933179" cy="246459"/>
          </a:xfrm>
          <a:prstGeom prst="roundRect">
            <a:avLst>
              <a:gd name="adj" fmla="val 30918"/>
            </a:avLst>
          </a:prstGeom>
          <a:solidFill>
            <a:srgbClr val="1E293B">
              <a:alpha val="55000"/>
            </a:srgbClr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5689216" y="1648309"/>
            <a:ext cx="167164" cy="1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5889241" y="1686148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6017828" y="1645518"/>
            <a:ext cx="2045177" cy="138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DashScope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 Qwen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8037054" y="1636713"/>
            <a:ext cx="435322" cy="156020"/>
          </a:xfrm>
          <a:prstGeom prst="roundRect">
            <a:avLst>
              <a:gd name="adj" fmla="val 6098882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8018739" y="1645072"/>
            <a:ext cx="47195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72"/>
              </a:lnSpc>
              <a:buNone/>
            </a:pPr>
            <a:r>
              <a:rPr lang="en-US" sz="800" b="1" spc="23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primary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5614206" y="1880815"/>
            <a:ext cx="2933179" cy="245566"/>
          </a:xfrm>
          <a:prstGeom prst="roundRect">
            <a:avLst>
              <a:gd name="adj" fmla="val 31030"/>
            </a:avLst>
          </a:prstGeom>
          <a:solidFill>
            <a:srgbClr val="1E293B">
              <a:alpha val="55000"/>
            </a:srgbClr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5689216" y="1937184"/>
            <a:ext cx="167164" cy="135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5889241" y="1975024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6017828" y="1934394"/>
            <a:ext cx="2454548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Google Gemini 2.5 Flash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5614206" y="2169244"/>
            <a:ext cx="2933179" cy="245566"/>
          </a:xfrm>
          <a:prstGeom prst="roundRect">
            <a:avLst>
              <a:gd name="adj" fmla="val 31030"/>
            </a:avLst>
          </a:prstGeom>
          <a:solidFill>
            <a:srgbClr val="1E293B">
              <a:alpha val="55000"/>
            </a:srgbClr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5689216" y="2225613"/>
            <a:ext cx="167164" cy="135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5889241" y="2263453"/>
            <a:ext cx="57150" cy="57150"/>
          </a:xfrm>
          <a:prstGeom prst="ellipse">
            <a:avLst/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5"/>
          <p:cNvSpPr/>
          <p:nvPr/>
        </p:nvSpPr>
        <p:spPr>
          <a:xfrm>
            <a:off x="6017828" y="2222822"/>
            <a:ext cx="2454548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Groq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· Llama 3.3 70B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5614206" y="2457673"/>
            <a:ext cx="2933179" cy="245566"/>
          </a:xfrm>
          <a:prstGeom prst="roundRect">
            <a:avLst>
              <a:gd name="adj" fmla="val 31030"/>
            </a:avLst>
          </a:prstGeom>
          <a:solidFill>
            <a:srgbClr val="1E293B">
              <a:alpha val="55000"/>
            </a:srgbClr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5689216" y="2514042"/>
            <a:ext cx="167164" cy="135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5889241" y="2551881"/>
            <a:ext cx="57150" cy="57150"/>
          </a:xfrm>
          <a:prstGeom prst="ellipse">
            <a:avLst/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6017828" y="2511251"/>
            <a:ext cx="2454548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Cerebras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· Llama 3.1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5614206" y="2746102"/>
            <a:ext cx="2933179" cy="246459"/>
          </a:xfrm>
          <a:prstGeom prst="roundRect">
            <a:avLst>
              <a:gd name="adj" fmla="val 30918"/>
            </a:avLst>
          </a:prstGeom>
          <a:solidFill>
            <a:srgbClr val="1E293B">
              <a:alpha val="55000"/>
            </a:srgbClr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1"/>
          <p:cNvSpPr/>
          <p:nvPr/>
        </p:nvSpPr>
        <p:spPr>
          <a:xfrm>
            <a:off x="5689216" y="2802917"/>
            <a:ext cx="167164" cy="1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5889241" y="2840757"/>
            <a:ext cx="57150" cy="5715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3"/>
          <p:cNvSpPr/>
          <p:nvPr/>
        </p:nvSpPr>
        <p:spPr>
          <a:xfrm>
            <a:off x="6017828" y="2800127"/>
            <a:ext cx="2018690" cy="138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OpenRouter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 multi</a:t>
            </a:r>
            <a:endParaRPr lang="en-US" sz="800" dirty="0"/>
          </a:p>
        </p:txBody>
      </p:sp>
      <p:sp>
        <p:nvSpPr>
          <p:cNvPr id="67" name="Text 64"/>
          <p:cNvSpPr/>
          <p:nvPr/>
        </p:nvSpPr>
        <p:spPr>
          <a:xfrm>
            <a:off x="8011827" y="2791322"/>
            <a:ext cx="460549" cy="156020"/>
          </a:xfrm>
          <a:prstGeom prst="roundRect">
            <a:avLst>
              <a:gd name="adj" fmla="val 6098882"/>
            </a:avLst>
          </a:prstGeom>
          <a:solidFill>
            <a:srgbClr val="F59E0B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5"/>
          <p:cNvSpPr/>
          <p:nvPr/>
        </p:nvSpPr>
        <p:spPr>
          <a:xfrm>
            <a:off x="8006125" y="2799680"/>
            <a:ext cx="47195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72"/>
              </a:lnSpc>
              <a:buNone/>
            </a:pPr>
            <a:r>
              <a:rPr lang="en-US" sz="800" b="1" spc="23" kern="0" dirty="0">
                <a:solidFill>
                  <a:srgbClr val="F59E0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gateway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5614206" y="3035424"/>
            <a:ext cx="2933179" cy="245566"/>
          </a:xfrm>
          <a:prstGeom prst="roundRect">
            <a:avLst>
              <a:gd name="adj" fmla="val 31030"/>
            </a:avLst>
          </a:prstGeom>
          <a:solidFill>
            <a:srgbClr val="1E293B">
              <a:alpha val="55000"/>
            </a:srgbClr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7"/>
          <p:cNvSpPr/>
          <p:nvPr/>
        </p:nvSpPr>
        <p:spPr>
          <a:xfrm>
            <a:off x="5689216" y="3091793"/>
            <a:ext cx="167164" cy="135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800" dirty="0"/>
          </a:p>
        </p:txBody>
      </p:sp>
      <p:sp>
        <p:nvSpPr>
          <p:cNvPr id="71" name="Text 68"/>
          <p:cNvSpPr/>
          <p:nvPr/>
        </p:nvSpPr>
        <p:spPr>
          <a:xfrm>
            <a:off x="5889241" y="3129632"/>
            <a:ext cx="57150" cy="5715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69"/>
          <p:cNvSpPr/>
          <p:nvPr/>
        </p:nvSpPr>
        <p:spPr>
          <a:xfrm>
            <a:off x="6017828" y="3089002"/>
            <a:ext cx="2454548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ZAI Web Dev SDK</a:t>
            </a:r>
            <a:endParaRPr lang="en-US" sz="800" dirty="0"/>
          </a:p>
        </p:txBody>
      </p:sp>
      <p:sp>
        <p:nvSpPr>
          <p:cNvPr id="73" name="Text 70"/>
          <p:cNvSpPr/>
          <p:nvPr/>
        </p:nvSpPr>
        <p:spPr>
          <a:xfrm>
            <a:off x="5614206" y="3323853"/>
            <a:ext cx="2933179" cy="246459"/>
          </a:xfrm>
          <a:prstGeom prst="roundRect">
            <a:avLst>
              <a:gd name="adj" fmla="val 30918"/>
            </a:avLst>
          </a:prstGeom>
          <a:solidFill>
            <a:srgbClr val="E11D48">
              <a:alpha val="8000"/>
            </a:srgbClr>
          </a:solidFill>
          <a:ln w="7144">
            <a:solidFill>
              <a:srgbClr val="E11D4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1"/>
          <p:cNvSpPr/>
          <p:nvPr/>
        </p:nvSpPr>
        <p:spPr>
          <a:xfrm>
            <a:off x="5689216" y="3380668"/>
            <a:ext cx="167164" cy="1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800" dirty="0"/>
          </a:p>
        </p:txBody>
      </p:sp>
      <p:sp>
        <p:nvSpPr>
          <p:cNvPr id="75" name="Text 72"/>
          <p:cNvSpPr/>
          <p:nvPr/>
        </p:nvSpPr>
        <p:spPr>
          <a:xfrm>
            <a:off x="5889241" y="3418508"/>
            <a:ext cx="57150" cy="57150"/>
          </a:xfrm>
          <a:prstGeom prst="ellipse">
            <a:avLst/>
          </a:prstGeom>
          <a:solidFill>
            <a:srgbClr val="FB71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3"/>
          <p:cNvSpPr/>
          <p:nvPr/>
        </p:nvSpPr>
        <p:spPr>
          <a:xfrm>
            <a:off x="6017828" y="3377878"/>
            <a:ext cx="1650558" cy="138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Offline Deterministic</a:t>
            </a:r>
            <a:endParaRPr lang="en-US" sz="800" dirty="0"/>
          </a:p>
        </p:txBody>
      </p:sp>
      <p:sp>
        <p:nvSpPr>
          <p:cNvPr id="77" name="Text 74"/>
          <p:cNvSpPr/>
          <p:nvPr/>
        </p:nvSpPr>
        <p:spPr>
          <a:xfrm>
            <a:off x="7661225" y="3369073"/>
            <a:ext cx="811150" cy="156020"/>
          </a:xfrm>
          <a:prstGeom prst="roundRect">
            <a:avLst>
              <a:gd name="adj" fmla="val 6098882"/>
            </a:avLst>
          </a:prstGeom>
          <a:solidFill>
            <a:srgbClr val="E11D48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5"/>
          <p:cNvSpPr/>
          <p:nvPr/>
        </p:nvSpPr>
        <p:spPr>
          <a:xfrm>
            <a:off x="7661225" y="3377431"/>
            <a:ext cx="8111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72"/>
              </a:lnSpc>
              <a:buNone/>
            </a:pPr>
            <a:r>
              <a:rPr lang="en-US" sz="800" b="1" spc="23" kern="0" dirty="0">
                <a:solidFill>
                  <a:srgbClr val="FB71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fallback &lt;500ms</a:t>
            </a:r>
            <a:endParaRPr lang="en-US" sz="800" dirty="0"/>
          </a:p>
        </p:txBody>
      </p:sp>
      <p:sp>
        <p:nvSpPr>
          <p:cNvPr id="79" name="Shape 76"/>
          <p:cNvSpPr/>
          <p:nvPr/>
        </p:nvSpPr>
        <p:spPr>
          <a:xfrm>
            <a:off x="5610634" y="3663181"/>
            <a:ext cx="2940323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5610634" y="374533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EA5E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984" dirty="0"/>
          </a:p>
        </p:txBody>
      </p:sp>
      <p:sp>
        <p:nvSpPr>
          <p:cNvPr id="81" name="Text 78"/>
          <p:cNvSpPr/>
          <p:nvPr/>
        </p:nvSpPr>
        <p:spPr>
          <a:xfrm>
            <a:off x="5753509" y="3738190"/>
            <a:ext cx="2797448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In-memory circuit breaker: 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CLOSED → OPEN → HALF_OPEN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state machine. Zero dropped SSE connections.</a:t>
            </a:r>
            <a:endParaRPr lang="en-US" sz="800" dirty="0"/>
          </a:p>
        </p:txBody>
      </p:sp>
      <p:sp>
        <p:nvSpPr>
          <p:cNvPr id="82" name="Shape 79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342900" y="4957539"/>
            <a:ext cx="8167427" cy="17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SehatAI · Technology</a:t>
            </a:r>
            <a:endParaRPr lang="en-US" sz="800" dirty="0"/>
          </a:p>
        </p:txBody>
      </p:sp>
      <p:sp>
        <p:nvSpPr>
          <p:cNvPr id="84" name="Text 81"/>
          <p:cNvSpPr/>
          <p:nvPr/>
        </p:nvSpPr>
        <p:spPr>
          <a:xfrm>
            <a:off x="8487299" y="4957539"/>
            <a:ext cx="351117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619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44373"/>
            <a:ext cx="1549524" cy="281997"/>
          </a:xfrm>
          <a:prstGeom prst="roundRect">
            <a:avLst>
              <a:gd name="adj" fmla="val 3374318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1253840" y="327720"/>
            <a:ext cx="795747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15" kern="0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EVALUATION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542925" y="285750"/>
            <a:ext cx="1378074" cy="199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9"/>
              </a:lnSpc>
              <a:buNone/>
            </a:pPr>
            <a:r>
              <a:rPr lang="en-US" sz="1013" spc="15" kern="0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analytics</a:t>
            </a:r>
            <a:endParaRPr lang="en-US" sz="1013" dirty="0"/>
          </a:p>
        </p:txBody>
      </p:sp>
      <p:sp>
        <p:nvSpPr>
          <p:cNvPr id="7" name="Text 3"/>
          <p:cNvSpPr/>
          <p:nvPr/>
        </p:nvSpPr>
        <p:spPr>
          <a:xfrm>
            <a:off x="2092449" y="318901"/>
            <a:ext cx="6594351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spc="27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GOLDEN TEST HARNESS · v1.0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57200" y="599294"/>
            <a:ext cx="8636000" cy="264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Validated against a 139-case golden test harness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457200" y="890736"/>
            <a:ext cx="8636000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 safety benchmark — not synthetic demos</a:t>
            </a:r>
            <a:endParaRPr lang="en-US" sz="844" dirty="0"/>
          </a:p>
        </p:txBody>
      </p:sp>
      <p:sp>
        <p:nvSpPr>
          <p:cNvPr id="10" name="Text 6"/>
          <p:cNvSpPr/>
          <p:nvPr/>
        </p:nvSpPr>
        <p:spPr>
          <a:xfrm>
            <a:off x="460772" y="1174700"/>
            <a:ext cx="1964531" cy="992981"/>
          </a:xfrm>
          <a:prstGeom prst="roundRect">
            <a:avLst>
              <a:gd name="adj" fmla="val 13429"/>
            </a:avLst>
          </a:prstGeom>
          <a:solidFill>
            <a:srgbClr val="D1FAE5"/>
          </a:solidFill>
          <a:ln w="7144">
            <a:solidFill>
              <a:srgbClr val="6EE7B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07219" y="1306860"/>
            <a:ext cx="1671637" cy="40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925" b="1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97.1%</a:t>
            </a:r>
            <a:endParaRPr lang="en-US" sz="2925" dirty="0"/>
          </a:p>
        </p:txBody>
      </p:sp>
      <p:sp>
        <p:nvSpPr>
          <p:cNvPr id="12" name="Text 8"/>
          <p:cNvSpPr/>
          <p:nvPr/>
        </p:nvSpPr>
        <p:spPr>
          <a:xfrm>
            <a:off x="2078831" y="1392585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969" dirty="0"/>
          </a:p>
        </p:txBody>
      </p:sp>
      <p:sp>
        <p:nvSpPr>
          <p:cNvPr id="13" name="Text 9"/>
          <p:cNvSpPr/>
          <p:nvPr/>
        </p:nvSpPr>
        <p:spPr>
          <a:xfrm>
            <a:off x="607219" y="1755577"/>
            <a:ext cx="1671638" cy="1307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Overall Accuracy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07219" y="1913744"/>
            <a:ext cx="1671638" cy="121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135 / 139 cases passed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2546747" y="1174700"/>
            <a:ext cx="1964531" cy="992981"/>
          </a:xfrm>
          <a:prstGeom prst="roundRect">
            <a:avLst>
              <a:gd name="adj" fmla="val 13429"/>
            </a:avLst>
          </a:prstGeom>
          <a:solidFill>
            <a:srgbClr val="FFE4E6"/>
          </a:solidFill>
          <a:ln w="7144">
            <a:solidFill>
              <a:srgbClr val="FECD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2693194" y="1306860"/>
            <a:ext cx="1671637" cy="40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925" b="1" dirty="0">
                <a:solidFill>
                  <a:srgbClr val="E11D4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97.1%</a:t>
            </a:r>
            <a:endParaRPr lang="en-US" sz="2925" dirty="0"/>
          </a:p>
        </p:txBody>
      </p:sp>
      <p:sp>
        <p:nvSpPr>
          <p:cNvPr id="17" name="Text 13"/>
          <p:cNvSpPr/>
          <p:nvPr/>
        </p:nvSpPr>
        <p:spPr>
          <a:xfrm>
            <a:off x="4164806" y="1392585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E11D4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969" dirty="0"/>
          </a:p>
        </p:txBody>
      </p:sp>
      <p:sp>
        <p:nvSpPr>
          <p:cNvPr id="18" name="Text 14"/>
          <p:cNvSpPr/>
          <p:nvPr/>
        </p:nvSpPr>
        <p:spPr>
          <a:xfrm>
            <a:off x="2693194" y="1755577"/>
            <a:ext cx="1671637" cy="1307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Emergency Recall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2693194" y="1913744"/>
            <a:ext cx="1671637" cy="121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34 / 35 red flags caught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4632722" y="1174700"/>
            <a:ext cx="1964531" cy="992981"/>
          </a:xfrm>
          <a:prstGeom prst="roundRect">
            <a:avLst>
              <a:gd name="adj" fmla="val 13429"/>
            </a:avLst>
          </a:prstGeom>
          <a:solidFill>
            <a:srgbClr val="D1FAE5"/>
          </a:solidFill>
          <a:ln w="7144">
            <a:solidFill>
              <a:srgbClr val="6EE7B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4779169" y="1306860"/>
            <a:ext cx="1457325" cy="40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925" b="1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0.0%</a:t>
            </a:r>
            <a:endParaRPr lang="en-US" sz="2925" dirty="0"/>
          </a:p>
        </p:txBody>
      </p:sp>
      <p:sp>
        <p:nvSpPr>
          <p:cNvPr id="22" name="Text 18"/>
          <p:cNvSpPr/>
          <p:nvPr/>
        </p:nvSpPr>
        <p:spPr>
          <a:xfrm>
            <a:off x="6250781" y="1392585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969" dirty="0"/>
          </a:p>
        </p:txBody>
      </p:sp>
      <p:sp>
        <p:nvSpPr>
          <p:cNvPr id="23" name="Text 19"/>
          <p:cNvSpPr/>
          <p:nvPr/>
        </p:nvSpPr>
        <p:spPr>
          <a:xfrm>
            <a:off x="4779169" y="1755577"/>
            <a:ext cx="1671637" cy="1307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False Positive Rate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4779169" y="1913744"/>
            <a:ext cx="1671637" cy="121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Zero false emergencies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6718697" y="1174700"/>
            <a:ext cx="1964531" cy="992981"/>
          </a:xfrm>
          <a:prstGeom prst="roundRect">
            <a:avLst>
              <a:gd name="adj" fmla="val 13429"/>
            </a:avLst>
          </a:prstGeom>
          <a:solidFill>
            <a:srgbClr val="FEF3C7"/>
          </a:solidFill>
          <a:ln w="7144">
            <a:solidFill>
              <a:srgbClr val="FCD3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6865144" y="1306860"/>
            <a:ext cx="1457325" cy="40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925" b="1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2925" dirty="0"/>
          </a:p>
        </p:txBody>
      </p:sp>
      <p:sp>
        <p:nvSpPr>
          <p:cNvPr id="27" name="Text 23"/>
          <p:cNvSpPr/>
          <p:nvPr/>
        </p:nvSpPr>
        <p:spPr>
          <a:xfrm>
            <a:off x="8336756" y="1392585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28" name="Text 24"/>
          <p:cNvSpPr/>
          <p:nvPr/>
        </p:nvSpPr>
        <p:spPr>
          <a:xfrm>
            <a:off x="6865144" y="1755577"/>
            <a:ext cx="1671637" cy="1307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Refusal Correctness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6865144" y="1913744"/>
            <a:ext cx="1771936" cy="121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17/17 unsafe requests refused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460772" y="2289125"/>
            <a:ext cx="4861992" cy="1759707"/>
          </a:xfrm>
          <a:prstGeom prst="roundRect">
            <a:avLst>
              <a:gd name="adj" fmla="val 8661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607219" y="2421285"/>
            <a:ext cx="3462375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Category Breakdown</a:t>
            </a:r>
            <a:endParaRPr lang="en-US" sz="844" dirty="0"/>
          </a:p>
        </p:txBody>
      </p:sp>
      <p:sp>
        <p:nvSpPr>
          <p:cNvPr id="32" name="Text 28"/>
          <p:cNvSpPr/>
          <p:nvPr/>
        </p:nvSpPr>
        <p:spPr>
          <a:xfrm>
            <a:off x="4083881" y="2443386"/>
            <a:ext cx="1157982" cy="17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test categories · 139 total</a:t>
            </a:r>
            <a:endParaRPr lang="en-US" sz="619" dirty="0"/>
          </a:p>
        </p:txBody>
      </p:sp>
      <p:sp>
        <p:nvSpPr>
          <p:cNvPr id="33" name="Text 29"/>
          <p:cNvSpPr/>
          <p:nvPr/>
        </p:nvSpPr>
        <p:spPr>
          <a:xfrm>
            <a:off x="607219" y="2673102"/>
            <a:ext cx="1463040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Triage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1835944" y="2689510"/>
            <a:ext cx="2754585" cy="100013"/>
          </a:xfrm>
          <a:prstGeom prst="roundRect">
            <a:avLst>
              <a:gd name="adj" fmla="val 5714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1835944" y="2689510"/>
            <a:ext cx="2699445" cy="100013"/>
          </a:xfrm>
          <a:prstGeom prst="roundRect">
            <a:avLst>
              <a:gd name="adj" fmla="val 57143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4376217" y="2673102"/>
            <a:ext cx="800100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04785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46/47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607219" y="2863081"/>
            <a:ext cx="1339596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Red Flag Positive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1835944" y="2879489"/>
            <a:ext cx="2754585" cy="100013"/>
          </a:xfrm>
          <a:prstGeom prst="roundRect">
            <a:avLst>
              <a:gd name="adj" fmla="val 5714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1835944" y="2879489"/>
            <a:ext cx="2671874" cy="100013"/>
          </a:xfrm>
          <a:prstGeom prst="roundRect">
            <a:avLst>
              <a:gd name="adj" fmla="val 57143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4376217" y="2863081"/>
            <a:ext cx="800100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04785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34/35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607219" y="3053060"/>
            <a:ext cx="1339596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Red Flag Near-Miss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1835944" y="3069468"/>
            <a:ext cx="2754585" cy="100013"/>
          </a:xfrm>
          <a:prstGeom prst="roundRect">
            <a:avLst>
              <a:gd name="adj" fmla="val 5714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1835944" y="3069468"/>
            <a:ext cx="2754585" cy="100013"/>
          </a:xfrm>
          <a:prstGeom prst="roundRect">
            <a:avLst>
              <a:gd name="adj" fmla="val 57143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0"/>
          <p:cNvSpPr/>
          <p:nvPr/>
        </p:nvSpPr>
        <p:spPr>
          <a:xfrm>
            <a:off x="4376217" y="3053060"/>
            <a:ext cx="800100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04785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13/13</a:t>
            </a: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607219" y="3243039"/>
            <a:ext cx="1463040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Refusal</a:t>
            </a:r>
            <a:endParaRPr lang="en-US" sz="800" dirty="0"/>
          </a:p>
        </p:txBody>
      </p:sp>
      <p:sp>
        <p:nvSpPr>
          <p:cNvPr id="46" name="Text 42"/>
          <p:cNvSpPr/>
          <p:nvPr/>
        </p:nvSpPr>
        <p:spPr>
          <a:xfrm>
            <a:off x="1835944" y="3259448"/>
            <a:ext cx="2754585" cy="100013"/>
          </a:xfrm>
          <a:prstGeom prst="roundRect">
            <a:avLst>
              <a:gd name="adj" fmla="val 5714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3"/>
          <p:cNvSpPr/>
          <p:nvPr/>
        </p:nvSpPr>
        <p:spPr>
          <a:xfrm>
            <a:off x="1835944" y="3259448"/>
            <a:ext cx="2754585" cy="100013"/>
          </a:xfrm>
          <a:prstGeom prst="roundRect">
            <a:avLst>
              <a:gd name="adj" fmla="val 57143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4"/>
          <p:cNvSpPr/>
          <p:nvPr/>
        </p:nvSpPr>
        <p:spPr>
          <a:xfrm>
            <a:off x="4376217" y="3243039"/>
            <a:ext cx="800100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04785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17/17</a:t>
            </a:r>
            <a:endParaRPr lang="en-US" sz="800" dirty="0"/>
          </a:p>
        </p:txBody>
      </p:sp>
      <p:sp>
        <p:nvSpPr>
          <p:cNvPr id="49" name="Text 45"/>
          <p:cNvSpPr/>
          <p:nvPr/>
        </p:nvSpPr>
        <p:spPr>
          <a:xfrm>
            <a:off x="607219" y="3433018"/>
            <a:ext cx="1463040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Grounding</a:t>
            </a:r>
            <a:endParaRPr lang="en-US" sz="800" dirty="0"/>
          </a:p>
        </p:txBody>
      </p:sp>
      <p:sp>
        <p:nvSpPr>
          <p:cNvPr id="50" name="Text 46"/>
          <p:cNvSpPr/>
          <p:nvPr/>
        </p:nvSpPr>
        <p:spPr>
          <a:xfrm>
            <a:off x="1835944" y="3449427"/>
            <a:ext cx="2754585" cy="100013"/>
          </a:xfrm>
          <a:prstGeom prst="roundRect">
            <a:avLst>
              <a:gd name="adj" fmla="val 5714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7"/>
          <p:cNvSpPr/>
          <p:nvPr/>
        </p:nvSpPr>
        <p:spPr>
          <a:xfrm>
            <a:off x="1835944" y="3449427"/>
            <a:ext cx="2065883" cy="100013"/>
          </a:xfrm>
          <a:prstGeom prst="roundRect">
            <a:avLst>
              <a:gd name="adj" fmla="val 57143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8"/>
          <p:cNvSpPr/>
          <p:nvPr/>
        </p:nvSpPr>
        <p:spPr>
          <a:xfrm>
            <a:off x="4376217" y="3433018"/>
            <a:ext cx="800100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6/8</a:t>
            </a:r>
            <a:endParaRPr lang="en-US" sz="800" dirty="0"/>
          </a:p>
        </p:txBody>
      </p:sp>
      <p:sp>
        <p:nvSpPr>
          <p:cNvPr id="53" name="Shape 49"/>
          <p:cNvSpPr/>
          <p:nvPr/>
        </p:nvSpPr>
        <p:spPr>
          <a:xfrm>
            <a:off x="607219" y="3655144"/>
            <a:ext cx="456909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dash"/>
          </a:ln>
        </p:spPr>
      </p:sp>
      <p:sp>
        <p:nvSpPr>
          <p:cNvPr id="54" name="Text 50"/>
          <p:cNvSpPr/>
          <p:nvPr/>
        </p:nvSpPr>
        <p:spPr>
          <a:xfrm>
            <a:off x="607219" y="3742655"/>
            <a:ext cx="57150" cy="57150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1"/>
          <p:cNvSpPr/>
          <p:nvPr/>
        </p:nvSpPr>
        <p:spPr>
          <a:xfrm>
            <a:off x="607219" y="3715866"/>
            <a:ext cx="50662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Passing</a:t>
            </a:r>
            <a:endParaRPr lang="en-US" sz="800" dirty="0"/>
          </a:p>
        </p:txBody>
      </p:sp>
      <p:sp>
        <p:nvSpPr>
          <p:cNvPr id="56" name="Text 52"/>
          <p:cNvSpPr/>
          <p:nvPr/>
        </p:nvSpPr>
        <p:spPr>
          <a:xfrm>
            <a:off x="1075804" y="3742655"/>
            <a:ext cx="57150" cy="57150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3"/>
          <p:cNvSpPr/>
          <p:nvPr/>
        </p:nvSpPr>
        <p:spPr>
          <a:xfrm>
            <a:off x="1075804" y="3715866"/>
            <a:ext cx="135385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Below threshold</a:t>
            </a:r>
            <a:endParaRPr lang="en-US" sz="800" dirty="0"/>
          </a:p>
        </p:txBody>
      </p:sp>
      <p:sp>
        <p:nvSpPr>
          <p:cNvPr id="58" name="Text 54"/>
          <p:cNvSpPr/>
          <p:nvPr/>
        </p:nvSpPr>
        <p:spPr>
          <a:xfrm>
            <a:off x="2486806" y="3715866"/>
            <a:ext cx="268951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Grounding misses are abstention-prone edge cases — fail-safe, not unsafe.</a:t>
            </a:r>
            <a:endParaRPr lang="en-US" sz="600" dirty="0"/>
          </a:p>
        </p:txBody>
      </p:sp>
      <p:sp>
        <p:nvSpPr>
          <p:cNvPr id="59" name="Text 55"/>
          <p:cNvSpPr/>
          <p:nvPr/>
        </p:nvSpPr>
        <p:spPr>
          <a:xfrm>
            <a:off x="5440635" y="2285554"/>
            <a:ext cx="3246053" cy="1766850"/>
          </a:xfrm>
          <a:prstGeom prst="roundRect">
            <a:avLst>
              <a:gd name="adj" fmla="val 862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6"/>
          <p:cNvSpPr/>
          <p:nvPr/>
        </p:nvSpPr>
        <p:spPr>
          <a:xfrm>
            <a:off x="5583510" y="2414141"/>
            <a:ext cx="2788853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Latency</a:t>
            </a:r>
            <a:endParaRPr lang="en-US" sz="844" dirty="0"/>
          </a:p>
        </p:txBody>
      </p:sp>
      <p:sp>
        <p:nvSpPr>
          <p:cNvPr id="61" name="Text 57"/>
          <p:cNvSpPr/>
          <p:nvPr/>
        </p:nvSpPr>
        <p:spPr>
          <a:xfrm>
            <a:off x="8386651" y="2418606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62" name="Text 58"/>
          <p:cNvSpPr/>
          <p:nvPr/>
        </p:nvSpPr>
        <p:spPr>
          <a:xfrm>
            <a:off x="5583510" y="2665958"/>
            <a:ext cx="2960303" cy="244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P50: 62ms</a:t>
            </a:r>
            <a:endParaRPr lang="en-US" sz="2025" dirty="0"/>
          </a:p>
        </p:txBody>
      </p:sp>
      <p:sp>
        <p:nvSpPr>
          <p:cNvPr id="63" name="Text 59"/>
          <p:cNvSpPr/>
          <p:nvPr/>
        </p:nvSpPr>
        <p:spPr>
          <a:xfrm>
            <a:off x="5583510" y="2937421"/>
            <a:ext cx="2960303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Median response</a:t>
            </a:r>
            <a:endParaRPr lang="en-US" sz="800" dirty="0"/>
          </a:p>
        </p:txBody>
      </p:sp>
      <p:sp>
        <p:nvSpPr>
          <p:cNvPr id="64" name="Text 60"/>
          <p:cNvSpPr/>
          <p:nvPr/>
        </p:nvSpPr>
        <p:spPr>
          <a:xfrm>
            <a:off x="5583510" y="3155975"/>
            <a:ext cx="2960303" cy="244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P95: 679ms</a:t>
            </a:r>
            <a:endParaRPr lang="en-US" sz="2025" dirty="0"/>
          </a:p>
        </p:txBody>
      </p:sp>
      <p:sp>
        <p:nvSpPr>
          <p:cNvPr id="65" name="Text 61"/>
          <p:cNvSpPr/>
          <p:nvPr/>
        </p:nvSpPr>
        <p:spPr>
          <a:xfrm>
            <a:off x="5583510" y="3427437"/>
            <a:ext cx="2960303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95th percentile</a:t>
            </a:r>
            <a:endParaRPr lang="en-US" sz="800" dirty="0"/>
          </a:p>
        </p:txBody>
      </p:sp>
      <p:sp>
        <p:nvSpPr>
          <p:cNvPr id="66" name="Shape 62"/>
          <p:cNvSpPr/>
          <p:nvPr/>
        </p:nvSpPr>
        <p:spPr>
          <a:xfrm>
            <a:off x="5583510" y="3663851"/>
            <a:ext cx="296030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5583510" y="3724573"/>
            <a:ext cx="394335" cy="199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9"/>
              </a:lnSpc>
              <a:buNone/>
            </a:pPr>
            <a:r>
              <a:rPr lang="en-US" sz="1013" dirty="0">
                <a:solidFill>
                  <a:srgbClr val="E11D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bolt</a:t>
            </a:r>
            <a:endParaRPr lang="en-US" sz="1013" dirty="0"/>
          </a:p>
        </p:txBody>
      </p:sp>
      <p:sp>
        <p:nvSpPr>
          <p:cNvPr id="68" name="Text 64"/>
          <p:cNvSpPr/>
          <p:nvPr/>
        </p:nvSpPr>
        <p:spPr>
          <a:xfrm>
            <a:off x="5887120" y="3757724"/>
            <a:ext cx="2656694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Emergency short-circuit: </a:t>
            </a:r>
            <a:pPr algn="l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E11D4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67ms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average</a:t>
            </a:r>
            <a:endParaRPr lang="en-US" sz="800" dirty="0"/>
          </a:p>
        </p:txBody>
      </p:sp>
      <p:sp>
        <p:nvSpPr>
          <p:cNvPr id="69" name="Text 65"/>
          <p:cNvSpPr/>
          <p:nvPr/>
        </p:nvSpPr>
        <p:spPr>
          <a:xfrm>
            <a:off x="457200" y="4485270"/>
            <a:ext cx="8229600" cy="286755"/>
          </a:xfrm>
          <a:prstGeom prst="roundRect">
            <a:avLst>
              <a:gd name="adj" fmla="val 33217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6"/>
          <p:cNvSpPr/>
          <p:nvPr/>
        </p:nvSpPr>
        <p:spPr>
          <a:xfrm>
            <a:off x="585788" y="455715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71" name="Text 67"/>
          <p:cNvSpPr/>
          <p:nvPr/>
        </p:nvSpPr>
        <p:spPr>
          <a:xfrm>
            <a:off x="800100" y="4556708"/>
            <a:ext cx="7758113" cy="14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Under-triage rate: 1.9% — well below the 5% clinical safety threshold.</a:t>
            </a:r>
            <a:endParaRPr lang="en-US" sz="800" dirty="0"/>
          </a:p>
        </p:txBody>
      </p:sp>
      <p:sp>
        <p:nvSpPr>
          <p:cNvPr id="72" name="Shape 68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3" name="Text 69"/>
          <p:cNvSpPr/>
          <p:nvPr/>
        </p:nvSpPr>
        <p:spPr>
          <a:xfrm>
            <a:off x="342900" y="4957539"/>
            <a:ext cx="8112733" cy="17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SehatAI · Evaluation</a:t>
            </a:r>
            <a:endParaRPr lang="en-US" sz="800" dirty="0"/>
          </a:p>
        </p:txBody>
      </p:sp>
      <p:sp>
        <p:nvSpPr>
          <p:cNvPr id="74" name="Text 70"/>
          <p:cNvSpPr/>
          <p:nvPr/>
        </p:nvSpPr>
        <p:spPr>
          <a:xfrm>
            <a:off x="8459952" y="4957539"/>
            <a:ext cx="351117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619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1977814" cy="256394"/>
          </a:xfrm>
          <a:prstGeom prst="roundRect">
            <a:avLst>
              <a:gd name="adj" fmla="val 3711271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1679451" y="299145"/>
            <a:ext cx="798426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15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INNOVATION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542925" y="257175"/>
            <a:ext cx="1806364" cy="199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9"/>
              </a:lnSpc>
              <a:buNone/>
            </a:pPr>
            <a:r>
              <a:rPr lang="en-US" sz="1013" spc="15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auto_awesome</a:t>
            </a:r>
            <a:endParaRPr lang="en-US" sz="1013" dirty="0"/>
          </a:p>
        </p:txBody>
      </p:sp>
      <p:sp>
        <p:nvSpPr>
          <p:cNvPr id="7" name="Text 3"/>
          <p:cNvSpPr/>
          <p:nvPr/>
        </p:nvSpPr>
        <p:spPr>
          <a:xfrm>
            <a:off x="2520739" y="290326"/>
            <a:ext cx="6166061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spc="27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DIFFERENTIATION · IMPACT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57200" y="542144"/>
            <a:ext cx="8636000" cy="26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makes SehatAI genuinely different</a:t>
            </a:r>
            <a:endParaRPr lang="en-US" sz="1688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88616"/>
          <a:ext cx="8229600" cy="914400"/>
        </p:xfrm>
        <a:graphic>
          <a:graphicData uri="http://schemas.openxmlformats.org/drawingml/2006/table">
            <a:tbl>
              <a:tblPr/>
              <a:tblGrid>
                <a:gridCol w="2957513"/>
                <a:gridCol w="1757139"/>
                <a:gridCol w="1528874"/>
                <a:gridCol w="197178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Feature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Generic Chatbot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Ada Health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4785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SehatAI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Emergency short-circuit (&lt;100ms)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 LLM generates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Triage engine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4785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67ms deterministic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Trilingual (EN/Urdu/Roman)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 English only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⚠ Limited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4785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Native + RTL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Offline safety pack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 Requires internet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 No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4785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PWA service worker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Citation grounding + abstention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 Hallucinates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Evidence-based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4785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Zero-hit → abstain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Multi-provider failover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 Single API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⚠ Proprietary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4785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7-tier cascade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Pakistan-specific (1122, EPI, BHUs)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 US/EU centric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 No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4785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Built for PK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Open evaluation harness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 Black box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⚠ Partial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4785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139 golden cases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55542"/>
            <a:ext cx="2666963" cy="53075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85788" y="430656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2250" dirty="0"/>
          </a:p>
        </p:txBody>
      </p:sp>
      <p:sp>
        <p:nvSpPr>
          <p:cNvPr id="12" name="Text 6"/>
          <p:cNvSpPr/>
          <p:nvPr/>
        </p:nvSpPr>
        <p:spPr>
          <a:xfrm>
            <a:off x="914400" y="4255554"/>
            <a:ext cx="2081175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240M</a:t>
            </a:r>
            <a:endParaRPr lang="en-US" sz="1575" dirty="0"/>
          </a:p>
        </p:txBody>
      </p:sp>
      <p:sp>
        <p:nvSpPr>
          <p:cNvPr id="13" name="Text 7"/>
          <p:cNvSpPr/>
          <p:nvPr/>
        </p:nvSpPr>
        <p:spPr>
          <a:xfrm>
            <a:off x="914400" y="4484154"/>
            <a:ext cx="1665168" cy="102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619" dirty="0">
                <a:solidFill>
                  <a:srgbClr val="FFFFFF">
                    <a:alpha val="9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Pakistanis who gain a health safety net</a:t>
            </a:r>
            <a:endParaRPr lang="en-US" sz="619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463" y="4155542"/>
            <a:ext cx="2666963" cy="53075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367050" y="430656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2250" dirty="0"/>
          </a:p>
        </p:txBody>
      </p:sp>
      <p:sp>
        <p:nvSpPr>
          <p:cNvPr id="16" name="Text 9"/>
          <p:cNvSpPr/>
          <p:nvPr/>
        </p:nvSpPr>
        <p:spPr>
          <a:xfrm>
            <a:off x="3695663" y="4255554"/>
            <a:ext cx="205496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70M+</a:t>
            </a:r>
            <a:endParaRPr lang="en-US" sz="1575" dirty="0"/>
          </a:p>
        </p:txBody>
      </p:sp>
      <p:sp>
        <p:nvSpPr>
          <p:cNvPr id="17" name="Text 10"/>
          <p:cNvSpPr/>
          <p:nvPr/>
        </p:nvSpPr>
        <p:spPr>
          <a:xfrm>
            <a:off x="3695663" y="4484154"/>
            <a:ext cx="1404658" cy="102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619" dirty="0">
                <a:solidFill>
                  <a:srgbClr val="FFFFFF">
                    <a:alpha val="9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Urdu-first speakers finally served</a:t>
            </a:r>
            <a:endParaRPr lang="en-US" sz="619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9726" y="4155542"/>
            <a:ext cx="2667074" cy="53075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148313" y="430656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2250" dirty="0"/>
          </a:p>
        </p:txBody>
      </p:sp>
      <p:sp>
        <p:nvSpPr>
          <p:cNvPr id="20" name="Text 12"/>
          <p:cNvSpPr/>
          <p:nvPr/>
        </p:nvSpPr>
        <p:spPr>
          <a:xfrm>
            <a:off x="6476926" y="4255554"/>
            <a:ext cx="1826085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&lt;100ms</a:t>
            </a:r>
            <a:endParaRPr lang="en-US" sz="1575" dirty="0"/>
          </a:p>
        </p:txBody>
      </p:sp>
      <p:sp>
        <p:nvSpPr>
          <p:cNvPr id="21" name="Text 13"/>
          <p:cNvSpPr/>
          <p:nvPr/>
        </p:nvSpPr>
        <p:spPr>
          <a:xfrm>
            <a:off x="6476926" y="4484154"/>
            <a:ext cx="1540760" cy="102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619" dirty="0">
                <a:solidFill>
                  <a:srgbClr val="FFFFFF">
                    <a:alpha val="9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symptom to emergency action</a:t>
            </a:r>
            <a:endParaRPr lang="en-US" sz="619" dirty="0"/>
          </a:p>
        </p:txBody>
      </p:sp>
      <p:sp>
        <p:nvSpPr>
          <p:cNvPr id="22" name="Shape 14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342900" y="4957539"/>
            <a:ext cx="8112733" cy="17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SehatAI · Innovation</a:t>
            </a:r>
            <a:endParaRPr lang="en-US" sz="800" dirty="0"/>
          </a:p>
        </p:txBody>
      </p:sp>
      <p:sp>
        <p:nvSpPr>
          <p:cNvPr id="24" name="Text 16"/>
          <p:cNvSpPr/>
          <p:nvPr/>
        </p:nvSpPr>
        <p:spPr>
          <a:xfrm>
            <a:off x="8459952" y="4957539"/>
            <a:ext cx="351117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619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01511"/>
            <a:ext cx="1583122" cy="281997"/>
          </a:xfrm>
          <a:prstGeom prst="roundRect">
            <a:avLst>
              <a:gd name="adj" fmla="val 3374318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1364568" y="284857"/>
            <a:ext cx="718617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15" kern="0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DEMO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542925" y="242888"/>
            <a:ext cx="1411672" cy="199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9"/>
              </a:lnSpc>
              <a:buNone/>
            </a:pPr>
            <a:r>
              <a:rPr lang="en-US" sz="1013" spc="15" kern="0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play_circle</a:t>
            </a:r>
            <a:endParaRPr lang="en-US" sz="1013" dirty="0"/>
          </a:p>
        </p:txBody>
      </p:sp>
      <p:sp>
        <p:nvSpPr>
          <p:cNvPr id="7" name="Text 3"/>
          <p:cNvSpPr/>
          <p:nvPr/>
        </p:nvSpPr>
        <p:spPr>
          <a:xfrm>
            <a:off x="2126047" y="276039"/>
            <a:ext cx="6560753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spc="27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DEPLOYED · sehatai-woad.vercel.app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57200" y="527856"/>
            <a:ext cx="8636000" cy="2333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See it in action</a:t>
            </a:r>
            <a:endParaRPr lang="en-US" sz="1688" dirty="0"/>
          </a:p>
        </p:txBody>
      </p:sp>
      <p:sp>
        <p:nvSpPr>
          <p:cNvPr id="9" name="Text 5"/>
          <p:cNvSpPr/>
          <p:nvPr/>
        </p:nvSpPr>
        <p:spPr>
          <a:xfrm>
            <a:off x="457200" y="788603"/>
            <a:ext cx="822960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Deployed and running. Test the golden path yourself.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460772" y="1047117"/>
            <a:ext cx="4440510" cy="2009180"/>
          </a:xfrm>
          <a:prstGeom prst="roundRect">
            <a:avLst>
              <a:gd name="adj" fmla="val 568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76200" dir="5400000">
              <a:srgbClr val="0F172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464344" y="1050689"/>
            <a:ext cx="4433367" cy="300372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464344" y="1347490"/>
            <a:ext cx="4433367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50069" y="1161529"/>
            <a:ext cx="71438" cy="71438"/>
          </a:xfrm>
          <a:prstGeom prst="ellipse">
            <a:avLst/>
          </a:prstGeom>
          <a:solidFill>
            <a:srgbClr val="FF5F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692944" y="1161529"/>
            <a:ext cx="71438" cy="71438"/>
          </a:xfrm>
          <a:prstGeom prst="ellipse">
            <a:avLst/>
          </a:prstGeom>
          <a:solidFill>
            <a:srgbClr val="FEBC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835819" y="1161529"/>
            <a:ext cx="71438" cy="71438"/>
          </a:xfrm>
          <a:prstGeom prst="ellipse">
            <a:avLst/>
          </a:prstGeom>
          <a:solidFill>
            <a:srgbClr val="28C8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1025128" y="1111411"/>
            <a:ext cx="3783285" cy="171785"/>
          </a:xfrm>
          <a:prstGeom prst="roundRect">
            <a:avLst>
              <a:gd name="adj" fmla="val 3326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1100138" y="115795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1221581" y="1136414"/>
            <a:ext cx="3518967" cy="121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sehatai-woad.vercel.app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564356" y="1641388"/>
            <a:ext cx="4233342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64356" y="144437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266" dirty="0"/>
          </a:p>
        </p:txBody>
      </p:sp>
      <p:sp>
        <p:nvSpPr>
          <p:cNvPr id="21" name="Text 17"/>
          <p:cNvSpPr/>
          <p:nvPr/>
        </p:nvSpPr>
        <p:spPr>
          <a:xfrm>
            <a:off x="750094" y="1436787"/>
            <a:ext cx="585639" cy="14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SehatAI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216782" y="1487239"/>
            <a:ext cx="42863" cy="42863"/>
          </a:xfrm>
          <a:prstGeom prst="ellipse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1288706" y="1458888"/>
            <a:ext cx="307208" cy="121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online</a:t>
            </a:r>
            <a:endParaRPr lang="en-US" sz="600" dirty="0"/>
          </a:p>
        </p:txBody>
      </p:sp>
      <p:sp>
        <p:nvSpPr>
          <p:cNvPr id="24" name="Text 20"/>
          <p:cNvSpPr/>
          <p:nvPr/>
        </p:nvSpPr>
        <p:spPr>
          <a:xfrm>
            <a:off x="4055663" y="1430661"/>
            <a:ext cx="764895" cy="156020"/>
          </a:xfrm>
          <a:prstGeom prst="roundRect">
            <a:avLst>
              <a:gd name="adj" fmla="val 6098882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4242829" y="1467594"/>
            <a:ext cx="554868" cy="113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600" dirty="0">
                <a:solidFill>
                  <a:srgbClr val="0EA5E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Roman Urdu</a:t>
            </a:r>
            <a:endParaRPr lang="en-US" sz="600" dirty="0"/>
          </a:p>
        </p:txBody>
      </p:sp>
      <p:sp>
        <p:nvSpPr>
          <p:cNvPr id="26" name="Text 22"/>
          <p:cNvSpPr/>
          <p:nvPr/>
        </p:nvSpPr>
        <p:spPr>
          <a:xfrm>
            <a:off x="4135673" y="1469380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A5E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3589087" y="1703596"/>
            <a:ext cx="1231471" cy="272732"/>
          </a:xfrm>
          <a:prstGeom prst="roundRect">
            <a:avLst>
              <a:gd name="adj" fmla="val 3492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3611947" y="1716398"/>
            <a:ext cx="1185751" cy="247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Bukhar aur sar dard hai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567928" y="2024249"/>
            <a:ext cx="3379440" cy="664146"/>
          </a:xfrm>
          <a:prstGeom prst="roundRect">
            <a:avLst>
              <a:gd name="adj" fmla="val 14342"/>
            </a:avLst>
          </a:prstGeom>
          <a:solidFill>
            <a:srgbClr val="D1FAE5"/>
          </a:solidFill>
          <a:ln w="7144">
            <a:solidFill>
              <a:srgbClr val="6EE7B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657225" y="2084970"/>
            <a:ext cx="3310574" cy="11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Aap ke symptoms routine triage mein aate hain.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657225" y="2232087"/>
            <a:ext cx="3200846" cy="235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Bukhar ke liye paracetamol 500mg har 6 ghante, narm pani ziyada piyein. Agar bukhar 3 din se zyada rahe toh doctor se milein.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634365" y="2517932"/>
            <a:ext cx="789563" cy="96698"/>
          </a:xfrm>
          <a:prstGeom prst="roundRect">
            <a:avLst>
              <a:gd name="adj" fmla="val 394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657225" y="2523418"/>
            <a:ext cx="74384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85"/>
              </a:lnSpc>
              <a:buNone/>
            </a:pPr>
            <a:r>
              <a:rPr lang="en-US" sz="80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[WHO fever-adult]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564356" y="2766975"/>
            <a:ext cx="4233342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dash"/>
          </a:ln>
        </p:spPr>
      </p:sp>
      <p:sp>
        <p:nvSpPr>
          <p:cNvPr id="35" name="Text 31"/>
          <p:cNvSpPr/>
          <p:nvPr/>
        </p:nvSpPr>
        <p:spPr>
          <a:xfrm>
            <a:off x="564356" y="2819339"/>
            <a:ext cx="663364" cy="156020"/>
          </a:xfrm>
          <a:prstGeom prst="roundRect">
            <a:avLst>
              <a:gd name="adj" fmla="val 6098882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728663" y="2856272"/>
            <a:ext cx="52763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600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SELF_CARE</a:t>
            </a:r>
            <a:endParaRPr lang="en-US" sz="600" dirty="0"/>
          </a:p>
        </p:txBody>
      </p:sp>
      <p:sp>
        <p:nvSpPr>
          <p:cNvPr id="37" name="Text 33"/>
          <p:cNvSpPr/>
          <p:nvPr/>
        </p:nvSpPr>
        <p:spPr>
          <a:xfrm>
            <a:off x="621506" y="285805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478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1284870" y="2819339"/>
            <a:ext cx="462781" cy="156020"/>
          </a:xfrm>
          <a:prstGeom prst="roundRect">
            <a:avLst>
              <a:gd name="adj" fmla="val 609888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1430536" y="2856272"/>
            <a:ext cx="34569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</a:t>
            </a:r>
            <a:endParaRPr lang="en-US" sz="600" dirty="0"/>
          </a:p>
        </p:txBody>
      </p:sp>
      <p:sp>
        <p:nvSpPr>
          <p:cNvPr id="40" name="Text 36"/>
          <p:cNvSpPr/>
          <p:nvPr/>
        </p:nvSpPr>
        <p:spPr>
          <a:xfrm>
            <a:off x="1342020" y="2841985"/>
            <a:ext cx="9144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1804801" y="2819339"/>
            <a:ext cx="451284" cy="156020"/>
          </a:xfrm>
          <a:prstGeom prst="roundRect">
            <a:avLst>
              <a:gd name="adj" fmla="val 609888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8"/>
          <p:cNvSpPr/>
          <p:nvPr/>
        </p:nvSpPr>
        <p:spPr>
          <a:xfrm>
            <a:off x="1950467" y="2856272"/>
            <a:ext cx="33419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Triage</a:t>
            </a:r>
            <a:endParaRPr lang="en-US" sz="600" dirty="0"/>
          </a:p>
        </p:txBody>
      </p:sp>
      <p:sp>
        <p:nvSpPr>
          <p:cNvPr id="43" name="Text 39"/>
          <p:cNvSpPr/>
          <p:nvPr/>
        </p:nvSpPr>
        <p:spPr>
          <a:xfrm>
            <a:off x="1861951" y="2841985"/>
            <a:ext cx="9144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2313236" y="2819339"/>
            <a:ext cx="371810" cy="156020"/>
          </a:xfrm>
          <a:prstGeom prst="roundRect">
            <a:avLst>
              <a:gd name="adj" fmla="val 609888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2458901" y="2856272"/>
            <a:ext cx="233879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</a:t>
            </a:r>
            <a:endParaRPr lang="en-US" sz="800" dirty="0"/>
          </a:p>
        </p:txBody>
      </p:sp>
      <p:sp>
        <p:nvSpPr>
          <p:cNvPr id="46" name="Text 42"/>
          <p:cNvSpPr/>
          <p:nvPr/>
        </p:nvSpPr>
        <p:spPr>
          <a:xfrm>
            <a:off x="2370386" y="2841985"/>
            <a:ext cx="9144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47" name="Text 43"/>
          <p:cNvSpPr/>
          <p:nvPr/>
        </p:nvSpPr>
        <p:spPr>
          <a:xfrm>
            <a:off x="460772" y="3149166"/>
            <a:ext cx="1418258" cy="389334"/>
          </a:xfrm>
          <a:prstGeom prst="roundRect">
            <a:avLst>
              <a:gd name="adj" fmla="val 3914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4"/>
          <p:cNvSpPr/>
          <p:nvPr/>
        </p:nvSpPr>
        <p:spPr>
          <a:xfrm>
            <a:off x="550069" y="3265252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E11D4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547" dirty="0"/>
          </a:p>
        </p:txBody>
      </p:sp>
      <p:sp>
        <p:nvSpPr>
          <p:cNvPr id="49" name="Text 45"/>
          <p:cNvSpPr/>
          <p:nvPr/>
        </p:nvSpPr>
        <p:spPr>
          <a:xfrm>
            <a:off x="778669" y="3224175"/>
            <a:ext cx="1011064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67ms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778669" y="3352763"/>
            <a:ext cx="76673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Emergency detect</a:t>
            </a:r>
            <a:endParaRPr lang="en-US" sz="600" dirty="0"/>
          </a:p>
        </p:txBody>
      </p:sp>
      <p:sp>
        <p:nvSpPr>
          <p:cNvPr id="51" name="Text 47"/>
          <p:cNvSpPr/>
          <p:nvPr/>
        </p:nvSpPr>
        <p:spPr>
          <a:xfrm>
            <a:off x="1971898" y="3149166"/>
            <a:ext cx="1418258" cy="389334"/>
          </a:xfrm>
          <a:prstGeom prst="roundRect">
            <a:avLst>
              <a:gd name="adj" fmla="val 3914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8"/>
          <p:cNvSpPr/>
          <p:nvPr/>
        </p:nvSpPr>
        <p:spPr>
          <a:xfrm>
            <a:off x="2061195" y="3265252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EA5E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547" dirty="0"/>
          </a:p>
        </p:txBody>
      </p:sp>
      <p:sp>
        <p:nvSpPr>
          <p:cNvPr id="53" name="Text 49"/>
          <p:cNvSpPr/>
          <p:nvPr/>
        </p:nvSpPr>
        <p:spPr>
          <a:xfrm>
            <a:off x="2289795" y="3224175"/>
            <a:ext cx="616649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langs</a:t>
            </a:r>
            <a:endParaRPr lang="en-US" sz="900" dirty="0"/>
          </a:p>
        </p:txBody>
      </p:sp>
      <p:sp>
        <p:nvSpPr>
          <p:cNvPr id="54" name="Text 50"/>
          <p:cNvSpPr/>
          <p:nvPr/>
        </p:nvSpPr>
        <p:spPr>
          <a:xfrm>
            <a:off x="2289795" y="3352763"/>
            <a:ext cx="56461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Auto-switch</a:t>
            </a:r>
            <a:endParaRPr lang="en-US" sz="600" dirty="0"/>
          </a:p>
        </p:txBody>
      </p:sp>
      <p:sp>
        <p:nvSpPr>
          <p:cNvPr id="55" name="Text 51"/>
          <p:cNvSpPr/>
          <p:nvPr/>
        </p:nvSpPr>
        <p:spPr>
          <a:xfrm>
            <a:off x="3483025" y="3149166"/>
            <a:ext cx="1418258" cy="389334"/>
          </a:xfrm>
          <a:prstGeom prst="roundRect">
            <a:avLst>
              <a:gd name="adj" fmla="val 3914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2"/>
          <p:cNvSpPr/>
          <p:nvPr/>
        </p:nvSpPr>
        <p:spPr>
          <a:xfrm>
            <a:off x="3572321" y="3265252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57" name="Text 53"/>
          <p:cNvSpPr/>
          <p:nvPr/>
        </p:nvSpPr>
        <p:spPr>
          <a:xfrm>
            <a:off x="3800921" y="3224175"/>
            <a:ext cx="704660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160 docs</a:t>
            </a:r>
            <a:endParaRPr lang="en-US" sz="900" dirty="0"/>
          </a:p>
        </p:txBody>
      </p:sp>
      <p:sp>
        <p:nvSpPr>
          <p:cNvPr id="58" name="Text 54"/>
          <p:cNvSpPr/>
          <p:nvPr/>
        </p:nvSpPr>
        <p:spPr>
          <a:xfrm>
            <a:off x="3800921" y="3352763"/>
            <a:ext cx="86981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Cited</a:t>
            </a:r>
            <a:endParaRPr lang="en-US" sz="800" dirty="0"/>
          </a:p>
        </p:txBody>
      </p:sp>
      <p:sp>
        <p:nvSpPr>
          <p:cNvPr id="59" name="Text 55"/>
          <p:cNvSpPr/>
          <p:nvPr/>
        </p:nvSpPr>
        <p:spPr>
          <a:xfrm>
            <a:off x="5047729" y="1043546"/>
            <a:ext cx="3638959" cy="2752130"/>
          </a:xfrm>
          <a:prstGeom prst="roundRect">
            <a:avLst>
              <a:gd name="adj" fmla="val 553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6"/>
          <p:cNvSpPr/>
          <p:nvPr/>
        </p:nvSpPr>
        <p:spPr>
          <a:xfrm>
            <a:off x="5176317" y="1157846"/>
            <a:ext cx="3238909" cy="16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Try These Test Queries</a:t>
            </a:r>
            <a:endParaRPr lang="en-US" sz="800" dirty="0"/>
          </a:p>
        </p:txBody>
      </p:sp>
      <p:sp>
        <p:nvSpPr>
          <p:cNvPr id="61" name="Text 57"/>
          <p:cNvSpPr/>
          <p:nvPr/>
        </p:nvSpPr>
        <p:spPr>
          <a:xfrm>
            <a:off x="8429513" y="117101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62" name="Text 58"/>
          <p:cNvSpPr/>
          <p:nvPr/>
        </p:nvSpPr>
        <p:spPr>
          <a:xfrm>
            <a:off x="5176317" y="1369926"/>
            <a:ext cx="3381784" cy="151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Copy-paste these into the live chat to see each safety path activate.</a:t>
            </a:r>
            <a:endParaRPr lang="en-US" sz="619" dirty="0"/>
          </a:p>
        </p:txBody>
      </p:sp>
      <p:sp>
        <p:nvSpPr>
          <p:cNvPr id="63" name="Text 59"/>
          <p:cNvSpPr/>
          <p:nvPr/>
        </p:nvSpPr>
        <p:spPr>
          <a:xfrm>
            <a:off x="5176317" y="1548854"/>
            <a:ext cx="3381784" cy="400720"/>
          </a:xfrm>
          <a:prstGeom prst="roundRect">
            <a:avLst>
              <a:gd name="adj" fmla="val 1901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Shape 60"/>
          <p:cNvSpPr/>
          <p:nvPr/>
        </p:nvSpPr>
        <p:spPr>
          <a:xfrm>
            <a:off x="5176317" y="1552426"/>
            <a:ext cx="338178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8554529" y="1548854"/>
            <a:ext cx="0" cy="40072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5176317" y="1946002"/>
            <a:ext cx="338178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5190604" y="1548854"/>
            <a:ext cx="0" cy="400720"/>
          </a:xfrm>
          <a:prstGeom prst="line">
            <a:avLst/>
          </a:prstGeom>
          <a:noFill/>
          <a:ln w="28575">
            <a:solidFill>
              <a:srgbClr val="E11D48"/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5290617" y="1620292"/>
            <a:ext cx="3284344" cy="108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"Mera seenay mein shadeed dard hai"</a:t>
            </a:r>
            <a:endParaRPr lang="en-US" sz="800" dirty="0"/>
          </a:p>
        </p:txBody>
      </p:sp>
      <p:sp>
        <p:nvSpPr>
          <p:cNvPr id="69" name="Text 65"/>
          <p:cNvSpPr/>
          <p:nvPr/>
        </p:nvSpPr>
        <p:spPr>
          <a:xfrm>
            <a:off x="5290617" y="1756358"/>
            <a:ext cx="3284344" cy="121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→ Triggers cardiac emergency (67ms)</a:t>
            </a:r>
            <a:endParaRPr lang="en-US" sz="800" dirty="0"/>
          </a:p>
        </p:txBody>
      </p:sp>
      <p:sp>
        <p:nvSpPr>
          <p:cNvPr id="70" name="Text 66"/>
          <p:cNvSpPr/>
          <p:nvPr/>
        </p:nvSpPr>
        <p:spPr>
          <a:xfrm>
            <a:off x="5176317" y="2006724"/>
            <a:ext cx="3381784" cy="400720"/>
          </a:xfrm>
          <a:prstGeom prst="roundRect">
            <a:avLst>
              <a:gd name="adj" fmla="val 1901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Shape 67"/>
          <p:cNvSpPr/>
          <p:nvPr/>
        </p:nvSpPr>
        <p:spPr>
          <a:xfrm>
            <a:off x="5176317" y="2010296"/>
            <a:ext cx="338178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8554529" y="2006724"/>
            <a:ext cx="0" cy="40072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5176317" y="2403872"/>
            <a:ext cx="338178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5190604" y="2006724"/>
            <a:ext cx="0" cy="400720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75" name="Text 71"/>
          <p:cNvSpPr/>
          <p:nvPr/>
        </p:nvSpPr>
        <p:spPr>
          <a:xfrm>
            <a:off x="5290617" y="2078162"/>
            <a:ext cx="3174616" cy="108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"Bachay ko bukhar hai aur jaldi se saans phool rahi hai"</a:t>
            </a:r>
            <a:endParaRPr lang="en-US" sz="800" dirty="0"/>
          </a:p>
        </p:txBody>
      </p:sp>
      <p:sp>
        <p:nvSpPr>
          <p:cNvPr id="76" name="Text 72"/>
          <p:cNvSpPr/>
          <p:nvPr/>
        </p:nvSpPr>
        <p:spPr>
          <a:xfrm>
            <a:off x="5290617" y="2214228"/>
            <a:ext cx="3284344" cy="121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Pediatric emergency + 1166 helpline</a:t>
            </a:r>
            <a:endParaRPr lang="en-US" sz="800" dirty="0"/>
          </a:p>
        </p:txBody>
      </p:sp>
      <p:sp>
        <p:nvSpPr>
          <p:cNvPr id="77" name="Text 73"/>
          <p:cNvSpPr/>
          <p:nvPr/>
        </p:nvSpPr>
        <p:spPr>
          <a:xfrm>
            <a:off x="5176317" y="2464594"/>
            <a:ext cx="3381784" cy="400720"/>
          </a:xfrm>
          <a:prstGeom prst="roundRect">
            <a:avLst>
              <a:gd name="adj" fmla="val 1901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Shape 74"/>
          <p:cNvSpPr/>
          <p:nvPr/>
        </p:nvSpPr>
        <p:spPr>
          <a:xfrm>
            <a:off x="5176317" y="2468166"/>
            <a:ext cx="338178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8554529" y="2464594"/>
            <a:ext cx="0" cy="40072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5176317" y="2861742"/>
            <a:ext cx="338178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5190604" y="2464594"/>
            <a:ext cx="0" cy="400720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82" name="Text 78"/>
          <p:cNvSpPr/>
          <p:nvPr/>
        </p:nvSpPr>
        <p:spPr>
          <a:xfrm>
            <a:off x="5290617" y="2536031"/>
            <a:ext cx="3284344" cy="108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"Sar dard aur bukhar hai, kya karoon?"</a:t>
            </a:r>
            <a:endParaRPr lang="en-US" sz="800" dirty="0"/>
          </a:p>
        </p:txBody>
      </p:sp>
      <p:sp>
        <p:nvSpPr>
          <p:cNvPr id="83" name="Text 79"/>
          <p:cNvSpPr/>
          <p:nvPr/>
        </p:nvSpPr>
        <p:spPr>
          <a:xfrm>
            <a:off x="5290617" y="2672097"/>
            <a:ext cx="3284344" cy="121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Routine triage + WHO guidance</a:t>
            </a:r>
            <a:endParaRPr lang="en-US" sz="800" dirty="0"/>
          </a:p>
        </p:txBody>
      </p:sp>
      <p:sp>
        <p:nvSpPr>
          <p:cNvPr id="84" name="Text 80"/>
          <p:cNvSpPr/>
          <p:nvPr/>
        </p:nvSpPr>
        <p:spPr>
          <a:xfrm>
            <a:off x="5176317" y="2922463"/>
            <a:ext cx="3381784" cy="400720"/>
          </a:xfrm>
          <a:prstGeom prst="roundRect">
            <a:avLst>
              <a:gd name="adj" fmla="val 1901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Shape 81"/>
          <p:cNvSpPr/>
          <p:nvPr/>
        </p:nvSpPr>
        <p:spPr>
          <a:xfrm>
            <a:off x="5176317" y="2926035"/>
            <a:ext cx="338178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8554529" y="2922463"/>
            <a:ext cx="0" cy="40072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5176317" y="3319611"/>
            <a:ext cx="338178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5190604" y="2922463"/>
            <a:ext cx="0" cy="400720"/>
          </a:xfrm>
          <a:prstGeom prst="line">
            <a:avLst/>
          </a:prstGeom>
          <a:noFill/>
          <a:ln w="28575">
            <a:solidFill>
              <a:srgbClr val="0EA5E9"/>
            </a:solidFill>
            <a:prstDash val="solid"/>
          </a:ln>
        </p:spPr>
      </p:sp>
      <p:sp>
        <p:nvSpPr>
          <p:cNvPr id="89" name="Text 85"/>
          <p:cNvSpPr/>
          <p:nvPr/>
        </p:nvSpPr>
        <p:spPr>
          <a:xfrm>
            <a:off x="5290617" y="2993901"/>
            <a:ext cx="3174616" cy="108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"Main diabetic hoon, insulin ki dawa ke baray mein"</a:t>
            </a:r>
            <a:endParaRPr lang="en-US" sz="800" dirty="0"/>
          </a:p>
        </p:txBody>
      </p:sp>
      <p:sp>
        <p:nvSpPr>
          <p:cNvPr id="90" name="Text 86"/>
          <p:cNvSpPr/>
          <p:nvPr/>
        </p:nvSpPr>
        <p:spPr>
          <a:xfrm>
            <a:off x="5290617" y="3129967"/>
            <a:ext cx="3284344" cy="121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Refusal (no prescriptions)</a:t>
            </a:r>
            <a:endParaRPr lang="en-US" sz="800" dirty="0"/>
          </a:p>
        </p:txBody>
      </p:sp>
      <p:sp>
        <p:nvSpPr>
          <p:cNvPr id="91" name="Text 87"/>
          <p:cNvSpPr/>
          <p:nvPr/>
        </p:nvSpPr>
        <p:spPr>
          <a:xfrm>
            <a:off x="5176317" y="3394621"/>
            <a:ext cx="3381784" cy="286755"/>
          </a:xfrm>
          <a:prstGeom prst="roundRect">
            <a:avLst>
              <a:gd name="adj" fmla="val 26573"/>
            </a:avLst>
          </a:prstGeom>
          <a:solidFill>
            <a:srgbClr val="059669"/>
          </a:solidFill>
          <a:ln/>
          <a:effectLst>
            <a:outerShdw sx="100000" sy="100000" kx="0" ky="0" algn="bl" rotWithShape="0" blurRad="114300" dist="38100" dir="5400000">
              <a:srgbClr val="059669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Text 88"/>
          <p:cNvSpPr/>
          <p:nvPr/>
        </p:nvSpPr>
        <p:spPr>
          <a:xfrm>
            <a:off x="6175660" y="3480346"/>
            <a:ext cx="1554547" cy="107156"/>
          </a:xfrm>
          <a:prstGeom prst="rect">
            <a:avLst/>
          </a:prstGeom>
          <a:noFill/>
          <a:ln/>
        </p:spPr>
        <p:txBody>
          <a:bodyPr wrap="none" lIns="100013" tIns="71438" rIns="100013" bIns="71438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Visit sehatai-woad.vercel.app</a:t>
            </a:r>
            <a:endParaRPr lang="en-US" sz="800" dirty="0"/>
          </a:p>
        </p:txBody>
      </p:sp>
      <p:sp>
        <p:nvSpPr>
          <p:cNvPr id="93" name="Text 89"/>
          <p:cNvSpPr/>
          <p:nvPr/>
        </p:nvSpPr>
        <p:spPr>
          <a:xfrm>
            <a:off x="6784341" y="3455130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125" dirty="0"/>
          </a:p>
        </p:txBody>
      </p:sp>
      <p:sp>
        <p:nvSpPr>
          <p:cNvPr id="94" name="Shape 90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5" name="Text 91"/>
          <p:cNvSpPr/>
          <p:nvPr/>
        </p:nvSpPr>
        <p:spPr>
          <a:xfrm>
            <a:off x="342900" y="4957539"/>
            <a:ext cx="8112733" cy="17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SehatAI · Demo</a:t>
            </a:r>
            <a:endParaRPr lang="en-US" sz="800" dirty="0"/>
          </a:p>
        </p:txBody>
      </p:sp>
      <p:sp>
        <p:nvSpPr>
          <p:cNvPr id="96" name="Text 92"/>
          <p:cNvSpPr/>
          <p:nvPr/>
        </p:nvSpPr>
        <p:spPr>
          <a:xfrm>
            <a:off x="8459952" y="4957539"/>
            <a:ext cx="351117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619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85875" y="571500"/>
            <a:ext cx="28575" cy="28575"/>
          </a:xfrm>
          <a:prstGeom prst="ellipse">
            <a:avLst/>
          </a:prstGeom>
          <a:solidFill>
            <a:srgbClr val="F59E0B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7529513" y="1000125"/>
            <a:ext cx="42863" cy="42863"/>
          </a:xfrm>
          <a:prstGeom prst="ellipse">
            <a:avLst/>
          </a:prstGeom>
          <a:solidFill>
            <a:srgbClr val="059669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857250" y="3693319"/>
            <a:ext cx="21431" cy="21431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7965281" y="3964781"/>
            <a:ext cx="35719" cy="35719"/>
          </a:xfrm>
          <a:prstGeom prst="ellipse">
            <a:avLst/>
          </a:prstGeom>
          <a:solidFill>
            <a:srgbClr val="059669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8543925" y="1714500"/>
            <a:ext cx="28575" cy="28575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4343400" y="875891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4500" dirty="0"/>
          </a:p>
        </p:txBody>
      </p:sp>
      <p:sp>
        <p:nvSpPr>
          <p:cNvPr id="10" name="Text 6"/>
          <p:cNvSpPr/>
          <p:nvPr/>
        </p:nvSpPr>
        <p:spPr>
          <a:xfrm>
            <a:off x="1353053" y="1375953"/>
            <a:ext cx="6437894" cy="3068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575" dirty="0">
                <a:solidFill>
                  <a:srgbClr val="10B981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شکریہ</a:t>
            </a:r>
            <a:endParaRPr lang="en-US" sz="1575" dirty="0"/>
          </a:p>
        </p:txBody>
      </p:sp>
      <p:sp>
        <p:nvSpPr>
          <p:cNvPr id="11" name="Text 7"/>
          <p:cNvSpPr/>
          <p:nvPr/>
        </p:nvSpPr>
        <p:spPr>
          <a:xfrm>
            <a:off x="274320" y="1710258"/>
            <a:ext cx="8595360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3150" b="1" spc="-63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Thank You</a:t>
            </a:r>
            <a:endParaRPr lang="en-US" sz="3150" dirty="0"/>
          </a:p>
        </p:txBody>
      </p:sp>
      <p:sp>
        <p:nvSpPr>
          <p:cNvPr id="12" name="Text 8"/>
          <p:cNvSpPr/>
          <p:nvPr/>
        </p:nvSpPr>
        <p:spPr>
          <a:xfrm>
            <a:off x="2534692" y="2181746"/>
            <a:ext cx="4074616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SehatAI — Safety-first AI health guidance for every Pakistani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857625" y="2510358"/>
            <a:ext cx="1428750" cy="7144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2538264" y="2678237"/>
            <a:ext cx="1236762" cy="1384883"/>
          </a:xfrm>
          <a:prstGeom prst="roundRect">
            <a:avLst>
              <a:gd name="adj" fmla="val 10782"/>
            </a:avLst>
          </a:prstGeom>
          <a:solidFill>
            <a:srgbClr val="1E293B">
              <a:alpha val="60000"/>
            </a:srgbClr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2642272" y="2816325"/>
            <a:ext cx="374310" cy="156020"/>
          </a:xfrm>
          <a:prstGeom prst="roundRect">
            <a:avLst>
              <a:gd name="adj" fmla="val 6098882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2656136" y="2824683"/>
            <a:ext cx="34658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72"/>
              </a:lnSpc>
              <a:buNone/>
            </a:pPr>
            <a:r>
              <a:rPr lang="en-US" sz="800" spc="11" kern="0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NOW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2656136" y="3030401"/>
            <a:ext cx="1001018" cy="16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MVP Complete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2656136" y="3291036"/>
            <a:ext cx="35719" cy="35719"/>
          </a:xfrm>
          <a:prstGeom prst="roundRect">
            <a:avLst>
              <a:gd name="adj" fmla="val 66666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2656136" y="3228194"/>
            <a:ext cx="1001018" cy="162547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Trilingual chat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2656136" y="3481015"/>
            <a:ext cx="35719" cy="35719"/>
          </a:xfrm>
          <a:prstGeom prst="roundRect">
            <a:avLst>
              <a:gd name="adj" fmla="val 66666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2656136" y="3418173"/>
            <a:ext cx="1001018" cy="162547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Emergency engine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2656136" y="3670995"/>
            <a:ext cx="35719" cy="35719"/>
          </a:xfrm>
          <a:prstGeom prst="roundRect">
            <a:avLst>
              <a:gd name="adj" fmla="val 66666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2656136" y="3608152"/>
            <a:ext cx="1001018" cy="162547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139-case eval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2656136" y="3860974"/>
            <a:ext cx="35719" cy="35719"/>
          </a:xfrm>
          <a:prstGeom prst="roundRect">
            <a:avLst>
              <a:gd name="adj" fmla="val 66666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2656136" y="3798131"/>
            <a:ext cx="1001018" cy="161404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Doctor copilot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3953619" y="2678237"/>
            <a:ext cx="1236762" cy="1384883"/>
          </a:xfrm>
          <a:prstGeom prst="roundRect">
            <a:avLst>
              <a:gd name="adj" fmla="val 10782"/>
            </a:avLst>
          </a:prstGeom>
          <a:solidFill>
            <a:srgbClr val="1E293B">
              <a:alpha val="60000"/>
            </a:srgbClr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4048631" y="2816325"/>
            <a:ext cx="645125" cy="156020"/>
          </a:xfrm>
          <a:prstGeom prst="roundRect">
            <a:avLst>
              <a:gd name="adj" fmla="val 6098882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4059688" y="2824683"/>
            <a:ext cx="62301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72"/>
              </a:lnSpc>
              <a:buNone/>
            </a:pPr>
            <a:r>
              <a:rPr lang="en-US" sz="800" spc="11" kern="0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NEXT 3 MO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4071491" y="3030401"/>
            <a:ext cx="1001018" cy="16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4071491" y="3291036"/>
            <a:ext cx="35719" cy="35719"/>
          </a:xfrm>
          <a:prstGeom prst="roundRect">
            <a:avLst>
              <a:gd name="adj" fmla="val 66666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4071491" y="3228194"/>
            <a:ext cx="1001018" cy="162547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Urdu peer review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4071491" y="3481015"/>
            <a:ext cx="35719" cy="35719"/>
          </a:xfrm>
          <a:prstGeom prst="roundRect">
            <a:avLst>
              <a:gd name="adj" fmla="val 66666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4071491" y="3418173"/>
            <a:ext cx="1001018" cy="162547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LHW pilot program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4071491" y="3670995"/>
            <a:ext cx="35719" cy="35719"/>
          </a:xfrm>
          <a:prstGeom prst="roundRect">
            <a:avLst>
              <a:gd name="adj" fmla="val 66666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4071491" y="3608152"/>
            <a:ext cx="1001018" cy="162547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Alibaba Cloud deploy</a:t>
            </a:r>
            <a:endParaRPr lang="en-US" sz="675" dirty="0"/>
          </a:p>
        </p:txBody>
      </p:sp>
      <p:sp>
        <p:nvSpPr>
          <p:cNvPr id="36" name="Text 32"/>
          <p:cNvSpPr/>
          <p:nvPr/>
        </p:nvSpPr>
        <p:spPr>
          <a:xfrm>
            <a:off x="4071491" y="3860974"/>
            <a:ext cx="35719" cy="35719"/>
          </a:xfrm>
          <a:prstGeom prst="roundRect">
            <a:avLst>
              <a:gd name="adj" fmla="val 66666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4071491" y="3798131"/>
            <a:ext cx="1001018" cy="161404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RWE-LLM playbook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5368975" y="2678237"/>
            <a:ext cx="1236762" cy="1384883"/>
          </a:xfrm>
          <a:prstGeom prst="roundRect">
            <a:avLst>
              <a:gd name="adj" fmla="val 10782"/>
            </a:avLst>
          </a:prstGeom>
          <a:solidFill>
            <a:srgbClr val="1E293B">
              <a:alpha val="60000"/>
            </a:srgbClr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5467313" y="2816325"/>
            <a:ext cx="527410" cy="156020"/>
          </a:xfrm>
          <a:prstGeom prst="roundRect">
            <a:avLst>
              <a:gd name="adj" fmla="val 6098882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5483652" y="2824683"/>
            <a:ext cx="49473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72"/>
              </a:lnSpc>
              <a:buNone/>
            </a:pPr>
            <a:r>
              <a:rPr lang="en-US" sz="800" spc="11" kern="0" dirty="0">
                <a:solidFill>
                  <a:srgbClr val="0EA5E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6-12 MO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5486846" y="3030401"/>
            <a:ext cx="1001018" cy="16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Scale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5486846" y="3291036"/>
            <a:ext cx="35719" cy="35719"/>
          </a:xfrm>
          <a:prstGeom prst="roundRect">
            <a:avLst>
              <a:gd name="adj" fmla="val 66666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5486846" y="3228194"/>
            <a:ext cx="1001018" cy="162547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Offline Qwen 1.7B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5486846" y="3481015"/>
            <a:ext cx="35719" cy="35719"/>
          </a:xfrm>
          <a:prstGeom prst="roundRect">
            <a:avLst>
              <a:gd name="adj" fmla="val 66666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5486846" y="3418173"/>
            <a:ext cx="1001018" cy="162547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Pashto/Sindhi voice</a:t>
            </a:r>
            <a:endParaRPr lang="en-US" sz="675" dirty="0"/>
          </a:p>
        </p:txBody>
      </p:sp>
      <p:sp>
        <p:nvSpPr>
          <p:cNvPr id="46" name="Text 42"/>
          <p:cNvSpPr/>
          <p:nvPr/>
        </p:nvSpPr>
        <p:spPr>
          <a:xfrm>
            <a:off x="5486846" y="3670995"/>
            <a:ext cx="35719" cy="35719"/>
          </a:xfrm>
          <a:prstGeom prst="roundRect">
            <a:avLst>
              <a:gd name="adj" fmla="val 66666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3"/>
          <p:cNvSpPr/>
          <p:nvPr/>
        </p:nvSpPr>
        <p:spPr>
          <a:xfrm>
            <a:off x="5486846" y="3608152"/>
            <a:ext cx="1001018" cy="162547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DRAP compliance</a:t>
            </a:r>
            <a:endParaRPr lang="en-US" sz="800" dirty="0"/>
          </a:p>
        </p:txBody>
      </p:sp>
      <p:sp>
        <p:nvSpPr>
          <p:cNvPr id="48" name="Text 44"/>
          <p:cNvSpPr/>
          <p:nvPr/>
        </p:nvSpPr>
        <p:spPr>
          <a:xfrm>
            <a:off x="5486846" y="3860974"/>
            <a:ext cx="35719" cy="35719"/>
          </a:xfrm>
          <a:prstGeom prst="roundRect">
            <a:avLst>
              <a:gd name="adj" fmla="val 66666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5"/>
          <p:cNvSpPr/>
          <p:nvPr/>
        </p:nvSpPr>
        <p:spPr>
          <a:xfrm>
            <a:off x="5486846" y="3798131"/>
            <a:ext cx="1001018" cy="161404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District rollout</a:t>
            </a:r>
            <a:endParaRPr lang="en-US" sz="800" dirty="0"/>
          </a:p>
        </p:txBody>
      </p:sp>
      <p:sp>
        <p:nvSpPr>
          <p:cNvPr id="50" name="Shape 46"/>
          <p:cNvSpPr/>
          <p:nvPr/>
        </p:nvSpPr>
        <p:spPr>
          <a:xfrm>
            <a:off x="3340038" y="4385146"/>
            <a:ext cx="2463924" cy="0"/>
          </a:xfrm>
          <a:prstGeom prst="line">
            <a:avLst/>
          </a:prstGeom>
          <a:noFill/>
          <a:ln w="7144">
            <a:solidFill>
              <a:srgbClr val="10B981"/>
            </a:solidFill>
            <a:prstDash val="dash"/>
          </a:ln>
        </p:spPr>
      </p:sp>
      <p:sp>
        <p:nvSpPr>
          <p:cNvPr id="51" name="Text 47"/>
          <p:cNvSpPr/>
          <p:nvPr/>
        </p:nvSpPr>
        <p:spPr>
          <a:xfrm>
            <a:off x="3419789" y="4237695"/>
            <a:ext cx="2475872" cy="126609"/>
          </a:xfrm>
          <a:prstGeom prst="rect">
            <a:avLst/>
          </a:prstGeom>
          <a:noFill/>
          <a:ln/>
        </p:spPr>
        <p:txBody>
          <a:bodyPr wrap="square" lIns="0" tIns="0" rIns="0" bIns="14288" rtlCol="0" anchor="t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github.com/jamshidnabizada7-boop/SehatAI-</a:t>
            </a:r>
            <a:endParaRPr lang="en-US" sz="800" dirty="0"/>
          </a:p>
        </p:txBody>
      </p:sp>
      <p:sp>
        <p:nvSpPr>
          <p:cNvPr id="52" name="Text 48"/>
          <p:cNvSpPr/>
          <p:nvPr/>
        </p:nvSpPr>
        <p:spPr>
          <a:xfrm>
            <a:off x="3340038" y="423814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53" name="Text 49"/>
          <p:cNvSpPr/>
          <p:nvPr/>
        </p:nvSpPr>
        <p:spPr>
          <a:xfrm>
            <a:off x="2534692" y="4431581"/>
            <a:ext cx="4074616" cy="17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Alibaba Cloud AI Hackathon Pakistan 2026 · September 2026</a:t>
            </a:r>
            <a:endParaRPr lang="en-US" sz="800" dirty="0"/>
          </a:p>
        </p:txBody>
      </p:sp>
      <p:sp>
        <p:nvSpPr>
          <p:cNvPr id="54" name="Shape 50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342900" y="4946489"/>
            <a:ext cx="8112733" cy="197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SehatAI · </a:t>
            </a:r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صحت AI</a:t>
            </a:r>
            <a:endParaRPr lang="en-US" sz="800" dirty="0"/>
          </a:p>
        </p:txBody>
      </p:sp>
      <p:sp>
        <p:nvSpPr>
          <p:cNvPr id="56" name="Text 52"/>
          <p:cNvSpPr/>
          <p:nvPr/>
        </p:nvSpPr>
        <p:spPr>
          <a:xfrm>
            <a:off x="8459952" y="4957539"/>
            <a:ext cx="351117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61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2026-09-03T09:03:39Z</dcterms:created>
  <dcterms:modified xsi:type="dcterms:W3CDTF">2026-09-03T09:03:39Z</dcterms:modified>
</cp:coreProperties>
</file>